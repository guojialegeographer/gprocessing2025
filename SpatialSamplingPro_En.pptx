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74" r:id="rId5"/>
    <p:sldId id="275" r:id="rId6"/>
    <p:sldId id="276" r:id="rId7"/>
    <p:sldId id="277" r:id="rId8"/>
    <p:sldId id="278" r:id="rId9"/>
    <p:sldId id="279" r:id="rId10"/>
    <p:sldId id="280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5.png"/><Relationship Id="rId1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8382305" y="4953305"/>
            <a:ext cx="3810305" cy="1904695"/>
          </a:xfrm>
          <a:prstGeom prst="roundRect">
            <a:avLst>
              <a:gd name="adj" fmla="val 48008"/>
            </a:avLst>
          </a:prstGeom>
          <a:solidFill>
            <a:srgbClr val="F1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10598" y="5667451"/>
            <a:ext cx="2381098" cy="1190549"/>
          </a:xfrm>
          <a:prstGeom prst="roundRect">
            <a:avLst>
              <a:gd name="adj" fmla="val 76805"/>
            </a:avLst>
          </a:prstGeom>
          <a:solidFill>
            <a:srgbClr val="E1EA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5705" y="3659429"/>
            <a:ext cx="9601200" cy="1920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9751" y="1164031"/>
            <a:ext cx="9773107" cy="14676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 Project Presentation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1238098" y="2817266"/>
            <a:ext cx="9715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 Standardized Framework for Spatial Sampling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21378" y="4246474"/>
            <a:ext cx="351038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Jiale Guo, Mingfeng Tang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645410" y="4788535"/>
            <a:ext cx="381000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Geoinformatics Engineering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30772" y="4788713"/>
            <a:ext cx="124358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|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61277" y="4788713"/>
            <a:ext cx="3049524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Course: Geospatial Processing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90795" y="5437022"/>
            <a:ext cx="26417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Date: 2025-01-26 Version: 0.1.0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385"/>
            <a:ext cx="304927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171346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9611258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Table of Contents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9983419" y="576072"/>
            <a:ext cx="195041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1571854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8" name="Shape 6"/>
          <p:cNvSpPr/>
          <p:nvPr/>
        </p:nvSpPr>
        <p:spPr>
          <a:xfrm>
            <a:off x="761695" y="1571854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0354" y="174284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71854" y="1809598"/>
            <a:ext cx="360913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Background &amp; Significance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1695" y="2447849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761695" y="2447849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0354" y="261975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71854" y="2686507"/>
            <a:ext cx="332110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Problems &amp; Innovations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1695" y="3323844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761695" y="3323844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0354" y="3495751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71854" y="3562502"/>
            <a:ext cx="197236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1695" y="4200754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20" name="Shape 18"/>
          <p:cNvSpPr/>
          <p:nvPr/>
        </p:nvSpPr>
        <p:spPr>
          <a:xfrm>
            <a:off x="761695" y="4200754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0354" y="437174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571854" y="4438498"/>
            <a:ext cx="2539289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Technical Implementation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1695" y="5076749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24" name="Shape 22"/>
          <p:cNvSpPr/>
          <p:nvPr/>
        </p:nvSpPr>
        <p:spPr>
          <a:xfrm>
            <a:off x="761695" y="5076749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0354" y="524865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571854" y="5315407"/>
            <a:ext cx="174559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Feature Overview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1695" y="5952744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28" name="Shape 26"/>
          <p:cNvSpPr/>
          <p:nvPr/>
        </p:nvSpPr>
        <p:spPr>
          <a:xfrm>
            <a:off x="761695" y="5952744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0354" y="6124651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571854" y="6191402"/>
            <a:ext cx="174559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Application Cases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29400" y="1571854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32" name="Shape 30"/>
          <p:cNvSpPr/>
          <p:nvPr/>
        </p:nvSpPr>
        <p:spPr>
          <a:xfrm>
            <a:off x="6629400" y="1571854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67144" y="174284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438644" y="1809598"/>
            <a:ext cx="363108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Development Process &amp; Methodology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629400" y="2447849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36" name="Shape 34"/>
          <p:cNvSpPr/>
          <p:nvPr/>
        </p:nvSpPr>
        <p:spPr>
          <a:xfrm>
            <a:off x="6629400" y="2447849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67144" y="261975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7438644" y="2686507"/>
            <a:ext cx="32424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Technical Challenges &amp; Solutions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629400" y="3323844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40" name="Shape 38"/>
          <p:cNvSpPr/>
          <p:nvPr/>
        </p:nvSpPr>
        <p:spPr>
          <a:xfrm>
            <a:off x="6629400" y="3323844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67144" y="3495751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7438644" y="3562502"/>
            <a:ext cx="209763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 Achievements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629400" y="4200754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44" name="Shape 42"/>
          <p:cNvSpPr/>
          <p:nvPr/>
        </p:nvSpPr>
        <p:spPr>
          <a:xfrm>
            <a:off x="6629400" y="4200754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67144" y="437174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7438644" y="4438498"/>
            <a:ext cx="166695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629400" y="5076749"/>
            <a:ext cx="4800600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</p:spPr>
      </p:sp>
      <p:sp>
        <p:nvSpPr>
          <p:cNvPr id="48" name="Shape 46"/>
          <p:cNvSpPr/>
          <p:nvPr/>
        </p:nvSpPr>
        <p:spPr>
          <a:xfrm>
            <a:off x="6629400" y="5076749"/>
            <a:ext cx="47549" cy="6858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67144" y="5248656"/>
            <a:ext cx="37216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7438644" y="5315407"/>
            <a:ext cx="302666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Summary &amp; Acknowledgments</a:t>
            </a:r>
            <a:endParaRPr lang="en-US" sz="1500" dirty="0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 t="-10" b="-10"/>
          <a:stretch>
            <a:fillRect/>
          </a:stretch>
        </p:blipFill>
        <p:spPr>
          <a:xfrm>
            <a:off x="9810598" y="4476902"/>
            <a:ext cx="1714500" cy="1524305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19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00949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0" y="99029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11033150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Background: Importance of Spatial Sampling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390650"/>
            <a:ext cx="5286375" cy="5274310"/>
          </a:xfrm>
          <a:prstGeom prst="roundRect">
            <a:avLst>
              <a:gd name="adj" fmla="val 374"/>
            </a:avLst>
          </a:prstGeom>
          <a:solidFill>
            <a:srgbClr val="F8FAFC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390802"/>
            <a:ext cx="5286146" cy="47549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695253" r="-695253"/>
          <a:stretch>
            <a:fillRect/>
          </a:stretch>
        </p:blipFill>
        <p:spPr>
          <a:xfrm>
            <a:off x="857707" y="1886407"/>
            <a:ext cx="286207" cy="192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5646" y="1723644"/>
            <a:ext cx="27816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Methodological Issues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7707" y="2533802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76249" y="2495398"/>
            <a:ext cx="13944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Urban Studies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76249" y="2809951"/>
            <a:ext cx="4496105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Street view image collection, urban green space assessment, and built environment analysis require spatial representativeness.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57707" y="3537814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76249" y="3499409"/>
            <a:ext cx="26298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Environmental Monitoring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76249" y="3813962"/>
            <a:ext cx="43434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Air quality monitoring points, noise pollution assessment, and biodiversity surveys need to capture spatial heterogeneity.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7707" y="454182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76249" y="4503420"/>
            <a:ext cx="145115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Social Sciences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76249" y="4817974"/>
            <a:ext cx="4353458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Population surveys, housing studies, and accessibility analysis must consider demographic distribution characteristics.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7707" y="5545836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76249" y="5507431"/>
            <a:ext cx="133776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Public Health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76249" y="5821985"/>
            <a:ext cx="4048963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Epidemiological surveys, health resource assessment, and disease spread modeling require rapid response to spatial distribution.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334125" y="1390650"/>
            <a:ext cx="5286375" cy="5274310"/>
          </a:xfrm>
          <a:prstGeom prst="roundRect">
            <a:avLst>
              <a:gd name="adj" fmla="val 374"/>
            </a:avLst>
          </a:prstGeom>
          <a:solidFill>
            <a:srgbClr val="FFF5F5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34049" y="1390802"/>
            <a:ext cx="5286146" cy="47549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20256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rcRect l="-695253" r="-695253"/>
          <a:stretch>
            <a:fillRect/>
          </a:stretch>
        </p:blipFill>
        <p:spPr>
          <a:xfrm>
            <a:off x="6620256" y="1886407"/>
            <a:ext cx="286207" cy="1920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048195" y="1723644"/>
            <a:ext cx="3429000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Current Pain Points &amp; Challenges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620256" y="2533802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838798" y="2495398"/>
            <a:ext cx="19613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Lack of Consistency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6838798" y="2809951"/>
            <a:ext cx="4467758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Methods vary across studies, making cross-comparison difficult due to the absence of unified standards.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620256" y="3537814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38798" y="3499409"/>
            <a:ext cx="250545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Insufficient Transparency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838798" y="3813962"/>
            <a:ext cx="4353458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 processes are often "black boxes" lacking detailed parameter records and metadata, affecting research credibility.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620256" y="4541825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38798" y="450342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 Efficiency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838798" y="4817974"/>
            <a:ext cx="444855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Traditional manual or script-based methods struggle with large-scale areas, leading to frequent "reinventing the wheel".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00949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0" y="99029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11868912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Limitations of Traditional Methods &amp; Technical Opportunities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390802"/>
            <a:ext cx="5286146" cy="5229454"/>
          </a:xfrm>
          <a:prstGeom prst="roundRect">
            <a:avLst>
              <a:gd name="adj" fmla="val 382"/>
            </a:avLst>
          </a:prstGeom>
          <a:solidFill>
            <a:srgbClr val="FFF5F5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390802"/>
            <a:ext cx="5286146" cy="47549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695253" r="-695253"/>
          <a:stretch>
            <a:fillRect/>
          </a:stretch>
        </p:blipFill>
        <p:spPr>
          <a:xfrm>
            <a:off x="857707" y="1886407"/>
            <a:ext cx="286207" cy="192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5646" y="1772107"/>
            <a:ext cx="368594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Limitations of Traditional Tools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7707" y="2553005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76249" y="2495398"/>
            <a:ext cx="215432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Reproducibility Crisis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76249" y="2809951"/>
            <a:ext cx="4362602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Most GIS tools lack random seed mechanisms, leading to inconsistent results for the same area, failing to meet scientific reproducibility standards.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57707" y="3844138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76249" y="3787445"/>
            <a:ext cx="412394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Lack of Standardization &amp; Documentation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76249" y="4101998"/>
            <a:ext cx="4410151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Manual workflows or proprietary formats result in "black-box" operations with missing metadata, making sampling decisions untraceable.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7707" y="5136185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76249" y="5078578"/>
            <a:ext cx="360913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Limited Extensibility &amp; Performance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76249" y="5393131"/>
            <a:ext cx="4448556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Commercial software is closed and expensive; academic scripts are often ad-hoc, struggling with large-scale data or new strategies.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34049" y="1390802"/>
            <a:ext cx="5286146" cy="5229454"/>
          </a:xfrm>
          <a:prstGeom prst="roundRect">
            <a:avLst>
              <a:gd name="adj" fmla="val 382"/>
            </a:avLst>
          </a:prstGeom>
          <a:solidFill>
            <a:srgbClr val="F0F9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34049" y="1390802"/>
            <a:ext cx="5286146" cy="47549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20256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rcRect l="-711921" r="-711921"/>
          <a:stretch>
            <a:fillRect/>
          </a:stretch>
        </p:blipFill>
        <p:spPr>
          <a:xfrm>
            <a:off x="6620256" y="1886407"/>
            <a:ext cx="219456" cy="192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981444" y="1772107"/>
            <a:ext cx="338968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New Technical Opportunities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620256" y="255300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38798" y="2495398"/>
            <a:ext cx="2562149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Mature Python Ecosystem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838798" y="2809951"/>
            <a:ext cx="4381805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GeoPandas (data standard), OSMnx (network access), Shapely (geometry), and NetworkX (graph analysis) provide a robust foundation.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620256" y="3844138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838798" y="3787445"/>
            <a:ext cx="2142439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Open Data Movement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6838798" y="4101998"/>
            <a:ext cx="45720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Global open data sources like OpenStreetMap lower research barriers, enabling large-scale, cross-regional comparative studies.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620256" y="4895698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38798" y="4839005"/>
            <a:ext cx="27660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Shift in Research Paradigms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838798" y="5153558"/>
            <a:ext cx="4496105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Rising academic demand for methodological transparency and reproducibility drives the need for complete protocols and open-source code.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99029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97731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Problems &amp; Objectives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073150"/>
            <a:ext cx="11049000" cy="989965"/>
          </a:xfrm>
          <a:prstGeom prst="roundRect">
            <a:avLst>
              <a:gd name="adj" fmla="val 4031"/>
            </a:avLst>
          </a:prstGeom>
          <a:solidFill>
            <a:srgbClr val="EBF8FF"/>
          </a:solidFill>
        </p:spPr>
      </p:sp>
      <p:sp>
        <p:nvSpPr>
          <p:cNvPr id="9" name="Shape 7"/>
          <p:cNvSpPr/>
          <p:nvPr/>
        </p:nvSpPr>
        <p:spPr>
          <a:xfrm>
            <a:off x="553085" y="1073150"/>
            <a:ext cx="76200" cy="1011555"/>
          </a:xfrm>
          <a:prstGeom prst="rect">
            <a:avLst/>
          </a:prstGeom>
          <a:solidFill>
            <a:srgbClr val="1E5288"/>
          </a:solidFill>
          <a:ln w="12700">
            <a:solidFill>
              <a:srgbClr val="1E528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" y="1130300"/>
            <a:ext cx="107259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52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Question: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9785" y="1490980"/>
            <a:ext cx="10687050" cy="574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How to design a standardized, reproducible, and high-performance spatial sampling framework for urban research and environmental science?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1500" y="2197735"/>
            <a:ext cx="5334000" cy="4605020"/>
          </a:xfrm>
          <a:prstGeom prst="roundRect">
            <a:avLst>
              <a:gd name="adj" fmla="val 389"/>
            </a:avLst>
          </a:prstGeom>
          <a:solidFill>
            <a:srgbClr val="FFF5F5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" y="2137410"/>
            <a:ext cx="5334000" cy="762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625" y="2538730"/>
            <a:ext cx="4857750" cy="7620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 l="-695253" r="-695253"/>
          <a:stretch>
            <a:fillRect/>
          </a:stretch>
        </p:blipFill>
        <p:spPr>
          <a:xfrm>
            <a:off x="809625" y="1987550"/>
            <a:ext cx="285750" cy="762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238250" y="2214245"/>
            <a:ext cx="2766060" cy="248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Existing Research Gaps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8990" y="2880995"/>
            <a:ext cx="76200" cy="76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0125" y="2834640"/>
            <a:ext cx="252857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Lack of Standardized Tools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00125" y="3105150"/>
            <a:ext cx="401955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Researchers write ad-hoc scripts; inconsistent methods make comparison difficult.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8990" y="3707130"/>
            <a:ext cx="76200" cy="76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0760" y="3660140"/>
            <a:ext cx="256159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Insufficient Reproducibility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00760" y="3931285"/>
            <a:ext cx="443865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Most GIS tools lack seed mechanisms; results are not reproducible, failing scientific standards.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08990" y="4532630"/>
            <a:ext cx="76200" cy="76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0760" y="4485640"/>
            <a:ext cx="166624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Missing Metadata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00125" y="4756785"/>
            <a:ext cx="449580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Incomplete parameter records and opaque decision processes hinder quality assessment.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8990" y="5358130"/>
            <a:ext cx="76200" cy="76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0125" y="5311140"/>
            <a:ext cx="232410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 Bottlenecks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00125" y="5582285"/>
            <a:ext cx="434340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Low efficiency and high memory usage for large-scale areas limit research scope.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08990" y="6184265"/>
            <a:ext cx="76200" cy="76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0760" y="6137275"/>
            <a:ext cx="253873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Single-Strategy Limitations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000125" y="6407785"/>
            <a:ext cx="461010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Tools typically support only one method, lacking strategy comparison capabilities.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86500" y="2181225"/>
            <a:ext cx="5334000" cy="4631690"/>
          </a:xfrm>
          <a:prstGeom prst="roundRect">
            <a:avLst>
              <a:gd name="adj" fmla="val 389"/>
            </a:avLst>
          </a:prstGeom>
          <a:solidFill>
            <a:srgbClr val="F0FFF4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86500" y="2155190"/>
            <a:ext cx="5334000" cy="76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6524625" y="2529840"/>
            <a:ext cx="4857750" cy="7620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rcRect l="-695253" r="-695253"/>
          <a:stretch>
            <a:fillRect/>
          </a:stretch>
        </p:blipFill>
        <p:spPr>
          <a:xfrm>
            <a:off x="6524625" y="2263140"/>
            <a:ext cx="285750" cy="7620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953885" y="2205355"/>
            <a:ext cx="2368550" cy="248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Research Objectives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6523990" y="2872105"/>
            <a:ext cx="76200" cy="762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715760" y="2825750"/>
            <a:ext cx="282194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Unified Sampling Architecture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6715125" y="3096260"/>
            <a:ext cx="459105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Design an extensible framework supporting Grid, Road Network, and other strategies.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523990" y="3698240"/>
            <a:ext cx="76200" cy="762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715125" y="3651250"/>
            <a:ext cx="257302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Reproducibility Mechanism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6715125" y="3922395"/>
            <a:ext cx="424815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Introduce random seed control to ensure deterministic algorithm results.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523990" y="4523740"/>
            <a:ext cx="76200" cy="762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715125" y="4476750"/>
            <a:ext cx="189357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Metadata Standards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6715125" y="4747895"/>
            <a:ext cx="439166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Automatically generate complete sampling process documentation (Protocol) to enhance transparency.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6523990" y="5349240"/>
            <a:ext cx="76200" cy="762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715125" y="5302250"/>
            <a:ext cx="247142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 Optimization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6715125" y="5573395"/>
            <a:ext cx="470535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Support large-scale urban area processing through spatial chunking and parallel computing.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6523990" y="6175375"/>
            <a:ext cx="76200" cy="762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715125" y="6128385"/>
            <a:ext cx="1995170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Easy-to-Use Interface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6715125" y="6398895"/>
            <a:ext cx="425831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Encapsulate concise Python API and CLI to lower the user entry barrier.</a:t>
            </a:r>
            <a:endParaRPr lang="en-US" sz="1200" dirty="0"/>
          </a:p>
        </p:txBody>
      </p:sp>
      <p:sp>
        <p:nvSpPr>
          <p:cNvPr id="52" name="Text 48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00949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0" y="99029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97731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Innovations &amp; Design Philosophy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390802"/>
            <a:ext cx="5286146" cy="6096305"/>
          </a:xfrm>
          <a:prstGeom prst="roundRect">
            <a:avLst>
              <a:gd name="adj" fmla="val 374"/>
            </a:avLst>
          </a:prstGeom>
          <a:solidFill>
            <a:srgbClr val="F8FAFC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390802"/>
            <a:ext cx="5286146" cy="47549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695253" r="-695253"/>
          <a:stretch>
            <a:fillRect/>
          </a:stretch>
        </p:blipFill>
        <p:spPr>
          <a:xfrm>
            <a:off x="857707" y="1886407"/>
            <a:ext cx="286207" cy="192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5646" y="1772107"/>
            <a:ext cx="2142439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Design Philosophy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7707" y="2533802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76249" y="2495398"/>
            <a:ext cx="20519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Reproducibility First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76249" y="2809951"/>
            <a:ext cx="417880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Identical configuration yields identical results (e.g.,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76249" y="3059582"/>
            <a:ext cx="1495044" cy="209398"/>
          </a:xfrm>
          <a:prstGeom prst="roundRect">
            <a:avLst>
              <a:gd name="adj" fmla="val 79396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33856" y="3078785"/>
            <a:ext cx="14575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5282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config(seed=42)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76249" y="3049524"/>
            <a:ext cx="3667658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), ensuring verifiable scientific experiments.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7707" y="377921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76249" y="3741725"/>
            <a:ext cx="284561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Standardized Documentation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76249" y="4056278"/>
            <a:ext cx="4391863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Auto-generates full YAML/GeoJSON metadata including parameters, timestamps, and versions to solve missing records.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7707" y="4783226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76249" y="4745736"/>
            <a:ext cx="209763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Strategy Extensibility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76249" y="5060290"/>
            <a:ext cx="4286707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Uses abstract base classes (ABC) allowing researchers to add custom sampling strategies without breaking existing architecture.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57707" y="602772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76249" y="5989320"/>
            <a:ext cx="134965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CRS Agnostic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76249" y="6303874"/>
            <a:ext cx="434340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Automatically handles coordinate transformations, seamlessly supporting switches between degrees (geographic) and meters (projected).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34049" y="1390802"/>
            <a:ext cx="5286146" cy="6096305"/>
          </a:xfrm>
          <a:prstGeom prst="roundRect">
            <a:avLst>
              <a:gd name="adj" fmla="val 374"/>
            </a:avLst>
          </a:prstGeom>
          <a:solidFill>
            <a:srgbClr val="FFF5F5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34049" y="1390802"/>
            <a:ext cx="5286146" cy="47549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20256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rcRect l="-711921" r="-711921"/>
          <a:stretch>
            <a:fillRect/>
          </a:stretch>
        </p:blipFill>
        <p:spPr>
          <a:xfrm>
            <a:off x="6620256" y="1886407"/>
            <a:ext cx="219456" cy="1920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981444" y="1772107"/>
            <a:ext cx="201808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Innovations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6620256" y="2533802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38798" y="2495398"/>
            <a:ext cx="35433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Seed-Driven Deterministic Sampling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838798" y="2809951"/>
            <a:ext cx="4543654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Abandons the uncertainty of traditional random sampling to achieve 100% reproducibility, meeting strict academic standards.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620256" y="3537814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38798" y="3499409"/>
            <a:ext cx="3422599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Unified Multi-Strategy Framework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838798" y="3813962"/>
            <a:ext cx="4315054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Integrates Grid Sampling and Road Network Sampling with a unified interface, flexibly adapting to different research scenarios.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620256" y="4781398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838798" y="4743907"/>
            <a:ext cx="386059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Embedded Metadata &amp; Quality Metrics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6838798" y="5057546"/>
            <a:ext cx="4467758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Beyond point generation, automatically calculates coverage, density, and other quality metrics, embedding them directly into output files.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620256" y="6025896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838798" y="5987491"/>
            <a:ext cx="332110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Intelligent Coordinate Conversion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6838798" y="6302045"/>
            <a:ext cx="4200754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Solves the pain point of manual degree/meter conversion by automatically identifying CRS and performing precise transformations.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978357"/>
            <a:ext cx="11048695" cy="895198"/>
          </a:xfrm>
          <a:prstGeom prst="roundRect">
            <a:avLst>
              <a:gd name="adj" fmla="val 8693"/>
            </a:avLst>
          </a:prstGeom>
          <a:solidFill>
            <a:srgbClr val="EBF8FF"/>
          </a:solidFill>
          <a:ln w="25400">
            <a:solidFill>
              <a:srgbClr val="BEE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1098" y="1092657"/>
            <a:ext cx="19202" cy="66659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296568"/>
            <a:ext cx="154259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User Interface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1282" r="-1282"/>
          <a:stretch>
            <a:fillRect/>
          </a:stretch>
        </p:blipFill>
        <p:spPr>
          <a:xfrm>
            <a:off x="790042" y="1311199"/>
            <a:ext cx="219456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42946" y="1092657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9075" y="1196899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Python API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Easy-to-use Interface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19802" y="1092657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5017" y="1196899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Tool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Command 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95744" y="1092657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11873" y="1196899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Jupyter Notebooks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Interactive Analysis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72600" y="1092657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88729" y="1196899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Documentation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Tutorials &amp; Guides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19495" y="2001571"/>
            <a:ext cx="152705" cy="1527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71500" y="1963674"/>
            <a:ext cx="11048695" cy="895198"/>
          </a:xfrm>
          <a:prstGeom prst="roundRect">
            <a:avLst>
              <a:gd name="adj" fmla="val 8693"/>
            </a:avLst>
          </a:prstGeom>
          <a:solidFill>
            <a:srgbClr val="BEE3F8"/>
          </a:solidFill>
          <a:ln w="25400">
            <a:solidFill>
              <a:srgbClr val="90CDF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81098" y="2077974"/>
            <a:ext cx="19202" cy="66659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8330" y="2282800"/>
            <a:ext cx="131490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Engine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6734" y="2297430"/>
            <a:ext cx="237744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542946" y="2077974"/>
            <a:ext cx="1666951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667305" y="2183130"/>
            <a:ext cx="1420063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SamplingConfig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Configuration &amp; Validation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351630" y="2077974"/>
            <a:ext cx="2857500" cy="666598"/>
          </a:xfrm>
          <a:prstGeom prst="roundRect">
            <a:avLst>
              <a:gd name="adj" fmla="val 11758"/>
            </a:avLst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465930" y="2183130"/>
            <a:ext cx="26289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SamplingStrategy (ABC)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Abstract Base Class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351776" y="2077974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469734" y="218313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GridSampling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Regular Grid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500616" y="2077974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618574" y="218313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Graph-based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1080" y="2803652"/>
            <a:ext cx="152705" cy="15270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71500" y="2950540"/>
            <a:ext cx="11048695" cy="895198"/>
          </a:xfrm>
          <a:prstGeom prst="roundRect">
            <a:avLst>
              <a:gd name="adj" fmla="val 8693"/>
            </a:avLst>
          </a:prstGeom>
          <a:solidFill>
            <a:srgbClr val="90CDF4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2381098" y="3064840"/>
            <a:ext cx="19202" cy="66659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27837" y="3260776"/>
            <a:ext cx="1762049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Support Services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6831" y="3284296"/>
            <a:ext cx="190195" cy="190195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2542946" y="3064840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2659075" y="3169996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Metadata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Protocol Generation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4819802" y="3064840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935017" y="3169996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095744" y="3064840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211873" y="3169996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Caching &amp; Parallel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9372600" y="3064840"/>
            <a:ext cx="213329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488729" y="3169996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Visualization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Maps &amp; Charts</a:t>
            </a:r>
            <a:endParaRPr lang="en-US" sz="12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19495" y="3974668"/>
            <a:ext cx="152705" cy="152705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571500" y="3950106"/>
            <a:ext cx="11048695" cy="895198"/>
          </a:xfrm>
          <a:prstGeom prst="roundRect">
            <a:avLst>
              <a:gd name="adj" fmla="val 8693"/>
            </a:avLst>
          </a:prstGeom>
          <a:solidFill>
            <a:srgbClr val="63B3ED"/>
          </a:solidFill>
          <a:ln w="25400">
            <a:solidFill>
              <a:srgbClr val="4299E1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2381098" y="4064406"/>
            <a:ext cx="19202" cy="66659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86054" y="4269232"/>
            <a:ext cx="115305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 &amp; I/O</a:t>
            </a:r>
            <a:endParaRPr lang="en-US" sz="13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5"/>
          <a:srcRect l="-1648" r="-1648"/>
          <a:stretch>
            <a:fillRect/>
          </a:stretch>
        </p:blipFill>
        <p:spPr>
          <a:xfrm>
            <a:off x="870204" y="4292752"/>
            <a:ext cx="171907" cy="19019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2542946" y="4064406"/>
            <a:ext cx="289590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2657246" y="4169562"/>
            <a:ext cx="266730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GeoPandas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 Data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5578754" y="4064406"/>
            <a:ext cx="289590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5693054" y="4169562"/>
            <a:ext cx="266730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OSMnx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Street Network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>
            <a:off x="8613648" y="4064406"/>
            <a:ext cx="2895905" cy="666598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8727948" y="4169562"/>
            <a:ext cx="266730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Formats</a:t>
            </a:r>
            <a:endParaRPr lang="en-US" sz="12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GeoJSON, YAML, SHP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571500" y="51288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54" name="Shape 45"/>
          <p:cNvSpPr/>
          <p:nvPr/>
        </p:nvSpPr>
        <p:spPr>
          <a:xfrm>
            <a:off x="571500" y="51288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961949" y="5243119"/>
            <a:ext cx="2162556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Modular Design</a:t>
            </a: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Clear separation of concerns for easy maintenance</a:t>
            </a:r>
            <a:endParaRPr lang="en-US" sz="12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6"/>
          <a:srcRect l="-33" r="-33"/>
          <a:stretch>
            <a:fillRect/>
          </a:stretch>
        </p:blipFill>
        <p:spPr>
          <a:xfrm>
            <a:off x="752551" y="5271465"/>
            <a:ext cx="171907" cy="152705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3381451" y="51288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58" name="Shape 48"/>
          <p:cNvSpPr/>
          <p:nvPr/>
        </p:nvSpPr>
        <p:spPr>
          <a:xfrm>
            <a:off x="3381451" y="51288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3752698" y="5243119"/>
            <a:ext cx="218175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Extensible Strategy</a:t>
            </a: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Abstract Base Class (ABC) for adding new algorithms</a:t>
            </a:r>
            <a:endParaRPr lang="en-US" sz="1200" dirty="0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562502" y="5271465"/>
            <a:ext cx="152705" cy="152705"/>
          </a:xfrm>
          <a:prstGeom prst="rect">
            <a:avLst/>
          </a:prstGeom>
        </p:spPr>
      </p:pic>
      <p:sp>
        <p:nvSpPr>
          <p:cNvPr id="61" name="Shape 50"/>
          <p:cNvSpPr/>
          <p:nvPr/>
        </p:nvSpPr>
        <p:spPr>
          <a:xfrm>
            <a:off x="6191402" y="51288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62" name="Shape 51"/>
          <p:cNvSpPr/>
          <p:nvPr/>
        </p:nvSpPr>
        <p:spPr>
          <a:xfrm>
            <a:off x="6191402" y="51288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6525158" y="5243119"/>
            <a:ext cx="2219249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Metadata Driven</a:t>
            </a: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Full parameter logging for reproducibility</a:t>
            </a:r>
            <a:endParaRPr lang="en-US" sz="1200" dirty="0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8"/>
          <a:srcRect t="-100" b="-100"/>
          <a:stretch>
            <a:fillRect/>
          </a:stretch>
        </p:blipFill>
        <p:spPr>
          <a:xfrm>
            <a:off x="6372454" y="5271465"/>
            <a:ext cx="114300" cy="152705"/>
          </a:xfrm>
          <a:prstGeom prst="rect">
            <a:avLst/>
          </a:prstGeom>
        </p:spPr>
      </p:pic>
      <p:sp>
        <p:nvSpPr>
          <p:cNvPr id="65" name="Shape 53"/>
          <p:cNvSpPr/>
          <p:nvPr/>
        </p:nvSpPr>
        <p:spPr>
          <a:xfrm>
            <a:off x="9001354" y="51288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66" name="Shape 54"/>
          <p:cNvSpPr/>
          <p:nvPr/>
        </p:nvSpPr>
        <p:spPr>
          <a:xfrm>
            <a:off x="9001354" y="51288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9372600" y="5243119"/>
            <a:ext cx="218175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Optimized Perf.</a:t>
            </a: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Built-in caching &amp; parallel processing for scale</a:t>
            </a:r>
            <a:endParaRPr lang="en-US" sz="1200" dirty="0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182405" y="5271465"/>
            <a:ext cx="152705" cy="152705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7</a:t>
            </a:r>
            <a:endParaRPr lang="en-US" sz="1200" dirty="0"/>
          </a:p>
        </p:txBody>
      </p:sp>
      <p:sp>
        <p:nvSpPr>
          <p:cNvPr id="70" name="Shape 5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1" name="Shape 58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2" name="Text 59"/>
          <p:cNvSpPr txBox="1"/>
          <p:nvPr/>
        </p:nvSpPr>
        <p:spPr>
          <a:xfrm>
            <a:off x="571500" y="286207"/>
            <a:ext cx="97731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System Architecture Overview</a:t>
            </a:r>
            <a:endParaRPr lang="en-US" sz="2700" dirty="0"/>
          </a:p>
        </p:txBody>
      </p:sp>
      <p:sp>
        <p:nvSpPr>
          <p:cNvPr id="73" name="Text 60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74" name="Shape 6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295400"/>
            <a:ext cx="3621405" cy="1905000"/>
          </a:xfrm>
          <a:prstGeom prst="roundRect">
            <a:avLst>
              <a:gd name="adj" fmla="val 1025"/>
            </a:avLst>
          </a:prstGeom>
          <a:solidFill>
            <a:srgbClr val="F8FAFC"/>
          </a:solidFill>
        </p:spPr>
      </p:sp>
      <p:sp>
        <p:nvSpPr>
          <p:cNvPr id="5" name="Shape 3"/>
          <p:cNvSpPr/>
          <p:nvPr/>
        </p:nvSpPr>
        <p:spPr>
          <a:xfrm flipH="1">
            <a:off x="557530" y="1295400"/>
            <a:ext cx="76200" cy="190563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7014" y="1580896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4110" y="1541780"/>
            <a:ext cx="2836545" cy="30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Automatic Coordinate Conversion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7725" y="1973580"/>
            <a:ext cx="3122930" cy="1011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Automatically handles spacing calculations across different Coordinate Reference Systems (CRS). E.g., EPSG:4326 (degrees) is automatically converted to metric spacing without manual latitude correction.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7690" y="1295400"/>
            <a:ext cx="3531235" cy="1871980"/>
          </a:xfrm>
          <a:prstGeom prst="roundRect">
            <a:avLst>
              <a:gd name="adj" fmla="val 1025"/>
            </a:avLst>
          </a:prstGeom>
          <a:solidFill>
            <a:srgbClr val="F8FAFC"/>
          </a:solidFill>
        </p:spPr>
      </p:sp>
      <p:sp>
        <p:nvSpPr>
          <p:cNvPr id="10" name="Shape 7"/>
          <p:cNvSpPr/>
          <p:nvPr/>
        </p:nvSpPr>
        <p:spPr>
          <a:xfrm flipH="1">
            <a:off x="4371340" y="1295400"/>
            <a:ext cx="76200" cy="187198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l="-1648" r="-1648"/>
          <a:stretch>
            <a:fillRect/>
          </a:stretch>
        </p:blipFill>
        <p:spPr>
          <a:xfrm>
            <a:off x="4653839" y="1561084"/>
            <a:ext cx="171907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20615" y="1524000"/>
            <a:ext cx="2609215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Efficient Grid Generation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53915" y="1973580"/>
            <a:ext cx="3006090" cy="1011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Uses NumPy for vectorized coordinate generation, replacing traditional loops. Utilizes </a:t>
            </a:r>
            <a:r>
              <a:rPr lang="en-US" sz="1200" dirty="0">
                <a:solidFill>
                  <a:srgbClr val="4A55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boundary.contains()</a:t>
            </a: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for fast spatial filtering, retaining only points within the boundary. 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79790" y="1296035"/>
            <a:ext cx="3298190" cy="1851025"/>
          </a:xfrm>
          <a:prstGeom prst="roundRect">
            <a:avLst>
              <a:gd name="adj" fmla="val 1025"/>
            </a:avLst>
          </a:prstGeom>
          <a:solidFill>
            <a:srgbClr val="F8FAFC"/>
          </a:solidFill>
        </p:spPr>
      </p:sp>
      <p:sp>
        <p:nvSpPr>
          <p:cNvPr id="15" name="Shape 11"/>
          <p:cNvSpPr/>
          <p:nvPr/>
        </p:nvSpPr>
        <p:spPr>
          <a:xfrm>
            <a:off x="8479790" y="1296035"/>
            <a:ext cx="76200" cy="187134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55304" y="1581023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42400" y="1524635"/>
            <a:ext cx="2379345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Embedded Metadata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742680" y="1973580"/>
            <a:ext cx="2992120" cy="808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Generated GeoDataFrames contain not only geometric points but also carry complete sampling configuration metadata, ensuring data self-description capability.</a:t>
            </a:r>
            <a:endParaRPr lang="en-US" sz="1200" dirty="0"/>
          </a:p>
        </p:txBody>
      </p:sp>
      <p:sp>
        <p:nvSpPr>
          <p:cNvPr id="120" name="Text 115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8</a:t>
            </a:r>
            <a:endParaRPr lang="en-US" sz="1200" dirty="0"/>
          </a:p>
        </p:txBody>
      </p:sp>
      <p:sp>
        <p:nvSpPr>
          <p:cNvPr id="121" name="Shape 11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2" name="Shape 117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571500" y="286207"/>
            <a:ext cx="97731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Technical Implementation </a:t>
            </a:r>
            <a:endParaRPr lang="en-US" sz="2700" dirty="0"/>
          </a:p>
        </p:txBody>
      </p:sp>
      <p:sp>
        <p:nvSpPr>
          <p:cNvPr id="124" name="Text 119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125" name="Shape 120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文本框 125"/>
          <p:cNvSpPr txBox="1"/>
          <p:nvPr/>
        </p:nvSpPr>
        <p:spPr>
          <a:xfrm>
            <a:off x="557530" y="852170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Grid Sampling</a:t>
            </a:r>
            <a:endParaRPr lang="en-US" altLang="en-US" sz="2700" b="1" dirty="0">
              <a:solidFill>
                <a:srgbClr val="1E5288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  <a:sym typeface="+mn-ea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586105" y="4445000"/>
            <a:ext cx="2940685" cy="1979295"/>
          </a:xfrm>
          <a:prstGeom prst="roundRect">
            <a:avLst>
              <a:gd name="adj" fmla="val 1683"/>
            </a:avLst>
          </a:prstGeom>
          <a:solidFill>
            <a:srgbClr val="F8FAFC"/>
          </a:solidFill>
        </p:spPr>
      </p:sp>
      <p:sp>
        <p:nvSpPr>
          <p:cNvPr id="128" name="Shape 3"/>
          <p:cNvSpPr/>
          <p:nvPr/>
        </p:nvSpPr>
        <p:spPr>
          <a:xfrm flipH="1">
            <a:off x="559435" y="4445000"/>
            <a:ext cx="76200" cy="196913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29" name="Image 0" descr="preencoded.png"/>
          <p:cNvPicPr>
            <a:picLocks noChangeAspect="1"/>
          </p:cNvPicPr>
          <p:nvPr/>
        </p:nvPicPr>
        <p:blipFill>
          <a:blip r:embed="rId4"/>
          <a:srcRect l="-1282" r="-1282"/>
          <a:stretch>
            <a:fillRect/>
          </a:stretch>
        </p:blipFill>
        <p:spPr>
          <a:xfrm>
            <a:off x="730174" y="4635881"/>
            <a:ext cx="219456" cy="190195"/>
          </a:xfrm>
          <a:prstGeom prst="rect">
            <a:avLst/>
          </a:prstGeom>
        </p:spPr>
      </p:pic>
      <p:sp>
        <p:nvSpPr>
          <p:cNvPr id="130" name="Text 4"/>
          <p:cNvSpPr txBox="1"/>
          <p:nvPr/>
        </p:nvSpPr>
        <p:spPr>
          <a:xfrm>
            <a:off x="1044575" y="4599940"/>
            <a:ext cx="2205990" cy="287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 Acquisition</a:t>
            </a:r>
            <a:endParaRPr lang="en-US" sz="1500" dirty="0"/>
          </a:p>
        </p:txBody>
      </p:sp>
      <p:sp>
        <p:nvSpPr>
          <p:cNvPr id="131" name="Text 5"/>
          <p:cNvSpPr txBox="1"/>
          <p:nvPr/>
        </p:nvSpPr>
        <p:spPr>
          <a:xfrm>
            <a:off x="730250" y="5254625"/>
            <a:ext cx="2652395" cy="836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Utilizes OSMnx to download road network graphs within bounds, filtering for drivable roads. Implements timeout handling and local disk caching to optimize performance.</a:t>
            </a:r>
            <a:endParaRPr lang="en-US" sz="1200" dirty="0"/>
          </a:p>
        </p:txBody>
      </p:sp>
      <p:sp>
        <p:nvSpPr>
          <p:cNvPr id="132" name="Shape 6"/>
          <p:cNvSpPr/>
          <p:nvPr/>
        </p:nvSpPr>
        <p:spPr>
          <a:xfrm>
            <a:off x="4146550" y="4445000"/>
            <a:ext cx="3646170" cy="1969135"/>
          </a:xfrm>
          <a:prstGeom prst="roundRect">
            <a:avLst>
              <a:gd name="adj" fmla="val 1683"/>
            </a:avLst>
          </a:prstGeom>
          <a:solidFill>
            <a:srgbClr val="F8FAFC"/>
          </a:solidFill>
        </p:spPr>
      </p:sp>
      <p:pic>
        <p:nvPicPr>
          <p:cNvPr id="133" name="Imag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22699" y="4709744"/>
            <a:ext cx="190195" cy="190195"/>
          </a:xfrm>
          <a:prstGeom prst="rect">
            <a:avLst/>
          </a:prstGeom>
        </p:spPr>
      </p:pic>
      <p:sp>
        <p:nvSpPr>
          <p:cNvPr id="134" name="Text 8"/>
          <p:cNvSpPr txBox="1"/>
          <p:nvPr/>
        </p:nvSpPr>
        <p:spPr>
          <a:xfrm>
            <a:off x="4709160" y="4673600"/>
            <a:ext cx="2499360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Equidistant Sampling</a:t>
            </a:r>
            <a:endParaRPr lang="en-US" sz="1500" dirty="0"/>
          </a:p>
        </p:txBody>
      </p:sp>
      <p:sp>
        <p:nvSpPr>
          <p:cNvPr id="135" name="Text 9"/>
          <p:cNvSpPr txBox="1"/>
          <p:nvPr/>
        </p:nvSpPr>
        <p:spPr>
          <a:xfrm>
            <a:off x="4422775" y="5302885"/>
            <a:ext cx="3072130" cy="5949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Projects edges to metric CRS, computes total length, and distributes points evenly along road geometries using Shapely linear interpolation.</a:t>
            </a:r>
            <a:endParaRPr lang="en-US" sz="1200" dirty="0"/>
          </a:p>
        </p:txBody>
      </p:sp>
      <p:sp>
        <p:nvSpPr>
          <p:cNvPr id="136" name="Shape 10"/>
          <p:cNvSpPr/>
          <p:nvPr/>
        </p:nvSpPr>
        <p:spPr>
          <a:xfrm>
            <a:off x="8201660" y="4445000"/>
            <a:ext cx="3646170" cy="1974215"/>
          </a:xfrm>
          <a:prstGeom prst="roundRect">
            <a:avLst>
              <a:gd name="adj" fmla="val 1683"/>
            </a:avLst>
          </a:prstGeom>
          <a:solidFill>
            <a:srgbClr val="F8FAFC"/>
          </a:solidFill>
        </p:spPr>
      </p:sp>
      <p:pic>
        <p:nvPicPr>
          <p:cNvPr id="137" name="Image 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369859" y="4811751"/>
            <a:ext cx="142646" cy="190195"/>
          </a:xfrm>
          <a:prstGeom prst="rect">
            <a:avLst/>
          </a:prstGeom>
        </p:spPr>
      </p:pic>
      <p:sp>
        <p:nvSpPr>
          <p:cNvPr id="138" name="Text 12"/>
          <p:cNvSpPr txBox="1"/>
          <p:nvPr/>
        </p:nvSpPr>
        <p:spPr>
          <a:xfrm>
            <a:off x="8814435" y="4759325"/>
            <a:ext cx="1757045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Structured Metadata</a:t>
            </a:r>
            <a:endParaRPr lang="en-US" sz="1500" dirty="0"/>
          </a:p>
        </p:txBody>
      </p:sp>
      <p:sp>
        <p:nvSpPr>
          <p:cNvPr id="139" name="Text 13"/>
          <p:cNvSpPr txBox="1"/>
          <p:nvPr/>
        </p:nvSpPr>
        <p:spPr>
          <a:xfrm>
            <a:off x="8688705" y="5302885"/>
            <a:ext cx="2940685" cy="1111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Uses Python dataclasses to model metadata (strategy, params, timestamp, version), supporting export to YAML protocols and embedding into GeoJSON outputs.</a:t>
            </a:r>
            <a:endParaRPr lang="en-US" sz="1200" dirty="0"/>
          </a:p>
        </p:txBody>
      </p:sp>
      <p:sp>
        <p:nvSpPr>
          <p:cNvPr id="140" name="Shape 3"/>
          <p:cNvSpPr/>
          <p:nvPr/>
        </p:nvSpPr>
        <p:spPr>
          <a:xfrm flipH="1">
            <a:off x="4123055" y="4455160"/>
            <a:ext cx="76200" cy="196913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41" name="Shape 3"/>
          <p:cNvSpPr/>
          <p:nvPr/>
        </p:nvSpPr>
        <p:spPr>
          <a:xfrm flipH="1">
            <a:off x="8164830" y="4455160"/>
            <a:ext cx="76200" cy="196913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42" name="文本框 141"/>
          <p:cNvSpPr txBox="1"/>
          <p:nvPr/>
        </p:nvSpPr>
        <p:spPr>
          <a:xfrm>
            <a:off x="557530" y="3646805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Road Network + Metadata</a:t>
            </a:r>
            <a:endParaRPr lang="en-US" altLang="en-US" sz="2700" b="1" dirty="0">
              <a:solidFill>
                <a:srgbClr val="1E5288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0644" y="1209751"/>
            <a:ext cx="2600554" cy="38405"/>
          </a:xfrm>
          <a:prstGeom prst="rect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754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t="-842" b="-842"/>
          <a:stretch>
            <a:fillRect/>
          </a:stretch>
        </p:blipFill>
        <p:spPr>
          <a:xfrm>
            <a:off x="866851" y="1505102"/>
            <a:ext cx="190195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1754" y="1943100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 Strategies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4283" y="2314346"/>
            <a:ext cx="94091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 Sampling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94283" y="2572207"/>
            <a:ext cx="94091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94283" y="2829154"/>
            <a:ext cx="149687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Extensible Architecture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1451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0595" y="1209751"/>
            <a:ext cx="2600554" cy="38405"/>
          </a:xfrm>
          <a:prstGeom prst="rect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81705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0FF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064" r="-1064"/>
          <a:stretch>
            <a:fillRect/>
          </a:stretch>
        </p:blipFill>
        <p:spPr>
          <a:xfrm>
            <a:off x="3662172" y="1505102"/>
            <a:ext cx="219456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81705" y="1943100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704234" y="2314346"/>
            <a:ext cx="105430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SamplingConfig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704234" y="2572207"/>
            <a:ext cx="12015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 CRS Support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704234" y="2829154"/>
            <a:ext cx="13496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Seed Reproducibility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91402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00546" y="1209751"/>
            <a:ext cx="2600554" cy="38405"/>
          </a:xfrm>
          <a:prstGeom prst="rect">
            <a:avLst/>
          </a:prstGeom>
          <a:solidFill>
            <a:srgbClr val="805A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91656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rcRect l="-1773" r="-1773"/>
          <a:stretch>
            <a:fillRect/>
          </a:stretch>
        </p:blipFill>
        <p:spPr>
          <a:xfrm>
            <a:off x="6515100" y="1505102"/>
            <a:ext cx="133502" cy="17190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91656" y="1943100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Metadata Management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514186" y="2314346"/>
            <a:ext cx="106619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 Generation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514186" y="2572207"/>
            <a:ext cx="149687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YAML Protocol Export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514186" y="2829154"/>
            <a:ext cx="14081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GeoJSON Embedding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001354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010498" y="1209751"/>
            <a:ext cx="2600554" cy="38405"/>
          </a:xfrm>
          <a:prstGeom prst="rect">
            <a:avLst/>
          </a:prstGeom>
          <a:solidFill>
            <a:srgbClr val="DD6B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201607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05849" y="1505102"/>
            <a:ext cx="171907" cy="17190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201607" y="1943100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Quality Assessment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9324137" y="2314346"/>
            <a:ext cx="122438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Coverage Statistics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324137" y="2572207"/>
            <a:ext cx="12701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Density Calculation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9324137" y="2829154"/>
            <a:ext cx="132679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Boundary Validation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71500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80644" y="3991356"/>
            <a:ext cx="2600554" cy="38405"/>
          </a:xfrm>
          <a:prstGeom prst="rect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71754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rcRect t="-842" b="-842"/>
          <a:stretch>
            <a:fillRect/>
          </a:stretch>
        </p:blipFill>
        <p:spPr>
          <a:xfrm>
            <a:off x="866851" y="4286707"/>
            <a:ext cx="190195" cy="17190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71754" y="4724705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894283" y="5095951"/>
            <a:ext cx="125821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 Distribution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894283" y="5352898"/>
            <a:ext cx="129296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Coverage Heatmaps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94283" y="5609844"/>
            <a:ext cx="13496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Strategy Comparison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381451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390595" y="3991356"/>
            <a:ext cx="2600554" cy="38405"/>
          </a:xfrm>
          <a:prstGeom prst="rect">
            <a:avLst/>
          </a:prstGeom>
          <a:solidFill>
            <a:srgbClr val="3197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3581705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85946" y="4286707"/>
            <a:ext cx="171907" cy="171907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3581705" y="4724705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49" name="Text 41"/>
          <p:cNvSpPr txBox="1"/>
          <p:nvPr/>
        </p:nvSpPr>
        <p:spPr>
          <a:xfrm>
            <a:off x="3704234" y="5095951"/>
            <a:ext cx="111099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 Chunking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3704234" y="5352898"/>
            <a:ext cx="121340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Parallel Processing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3704234" y="5609844"/>
            <a:ext cx="115671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Smart Disk Cache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6191402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6200546" y="3991356"/>
            <a:ext cx="2600554" cy="38405"/>
          </a:xfrm>
          <a:prstGeom prst="rect">
            <a:avLst/>
          </a:prstGeom>
          <a:solidFill>
            <a:srgbClr val="5A6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391656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B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7"/>
          <a:srcRect t="-842" b="-842"/>
          <a:stretch>
            <a:fillRect/>
          </a:stretch>
        </p:blipFill>
        <p:spPr>
          <a:xfrm>
            <a:off x="6486754" y="4286707"/>
            <a:ext cx="190195" cy="171907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6391656" y="4724705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Tool</a:t>
            </a:r>
            <a:endParaRPr lang="en-US" sz="1300" dirty="0"/>
          </a:p>
        </p:txBody>
      </p:sp>
      <p:sp>
        <p:nvSpPr>
          <p:cNvPr id="57" name="Text 48"/>
          <p:cNvSpPr txBox="1"/>
          <p:nvPr/>
        </p:nvSpPr>
        <p:spPr>
          <a:xfrm>
            <a:off x="6514186" y="5095951"/>
            <a:ext cx="15983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Command Line Interface</a:t>
            </a:r>
            <a:endParaRPr lang="en-US" sz="1000" dirty="0"/>
          </a:p>
        </p:txBody>
      </p:sp>
      <p:sp>
        <p:nvSpPr>
          <p:cNvPr id="58" name="Text 49"/>
          <p:cNvSpPr txBox="1"/>
          <p:nvPr/>
        </p:nvSpPr>
        <p:spPr>
          <a:xfrm>
            <a:off x="6514186" y="5352898"/>
            <a:ext cx="110002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Batch Processing</a:t>
            </a:r>
            <a:endParaRPr lang="en-US" sz="1000" dirty="0"/>
          </a:p>
        </p:txBody>
      </p:sp>
      <p:sp>
        <p:nvSpPr>
          <p:cNvPr id="59" name="Text 50"/>
          <p:cNvSpPr txBox="1"/>
          <p:nvPr/>
        </p:nvSpPr>
        <p:spPr>
          <a:xfrm>
            <a:off x="6514186" y="5609844"/>
            <a:ext cx="130393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Config File Loading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9001354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1" name="Shape 52"/>
          <p:cNvSpPr/>
          <p:nvPr/>
        </p:nvSpPr>
        <p:spPr>
          <a:xfrm>
            <a:off x="9010498" y="3991356"/>
            <a:ext cx="2600554" cy="38405"/>
          </a:xfrm>
          <a:prstGeom prst="rect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9201607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8"/>
          <a:srcRect l="-760" r="-760"/>
          <a:stretch>
            <a:fillRect/>
          </a:stretch>
        </p:blipFill>
        <p:spPr>
          <a:xfrm>
            <a:off x="9315907" y="4286707"/>
            <a:ext cx="152705" cy="171907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9201607" y="4724705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65" name="Text 55"/>
          <p:cNvSpPr txBox="1"/>
          <p:nvPr/>
        </p:nvSpPr>
        <p:spPr>
          <a:xfrm>
            <a:off x="9324137" y="5095951"/>
            <a:ext cx="94091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Reference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9324137" y="5352898"/>
            <a:ext cx="116768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Practical Tutorials</a:t>
            </a:r>
            <a:endParaRPr lang="en-US" sz="1000" dirty="0"/>
          </a:p>
        </p:txBody>
      </p:sp>
      <p:sp>
        <p:nvSpPr>
          <p:cNvPr id="67" name="Text 57"/>
          <p:cNvSpPr txBox="1"/>
          <p:nvPr/>
        </p:nvSpPr>
        <p:spPr>
          <a:xfrm>
            <a:off x="9324137" y="5609844"/>
            <a:ext cx="132679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Practices Guide</a:t>
            </a:r>
            <a:endParaRPr lang="en-US" sz="1000" dirty="0"/>
          </a:p>
        </p:txBody>
      </p:sp>
      <p:sp>
        <p:nvSpPr>
          <p:cNvPr id="68" name="Text 58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Shape 5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Shape 60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571500" y="286207"/>
            <a:ext cx="9868205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Feature Overview: Core Checklist</a:t>
            </a:r>
            <a:endParaRPr lang="en-US" sz="2700" dirty="0"/>
          </a:p>
        </p:txBody>
      </p:sp>
      <p:sp>
        <p:nvSpPr>
          <p:cNvPr id="72" name="Text 62"/>
          <p:cNvSpPr txBox="1"/>
          <p:nvPr/>
        </p:nvSpPr>
        <p:spPr>
          <a:xfrm>
            <a:off x="10248595" y="442570"/>
            <a:ext cx="163311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73" name="Shape 63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481328"/>
            <a:ext cx="4858207" cy="1476756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0644" y="1490472"/>
            <a:ext cx="38405" cy="1457554"/>
          </a:xfrm>
          <a:prstGeom prst="rect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754" y="168158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05256" y="181417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81582"/>
            <a:ext cx="3972154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Parameter Optimizer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97787" y="2042770"/>
            <a:ext cx="155356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Auto-find best spacing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497787" y="2281428"/>
            <a:ext cx="216529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Reverse calculate from target 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497787" y="2519172"/>
            <a:ext cx="198424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Min/Max spacing constraints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" y="3148279"/>
            <a:ext cx="4858207" cy="1476756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" y="3157423"/>
            <a:ext cx="38405" cy="1457554"/>
          </a:xfrm>
          <a:prstGeom prst="rect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1754" y="3347618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0FF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1482" y="3481121"/>
            <a:ext cx="237744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71600" y="3347618"/>
            <a:ext cx="3972154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Strategy Comparison Tool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497787" y="3709721"/>
            <a:ext cx="247162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One-click multi-strategy benchmark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497787" y="3948379"/>
            <a:ext cx="218815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Auto-generate comparison plots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497787" y="4186123"/>
            <a:ext cx="221101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Multi-dimensional stats analysis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71500" y="4815230"/>
            <a:ext cx="4858207" cy="1476756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0644" y="4824374"/>
            <a:ext cx="38405" cy="1457554"/>
          </a:xfrm>
          <a:prstGeom prst="rect">
            <a:avLst/>
          </a:prstGeom>
          <a:solidFill>
            <a:srgbClr val="805A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71754" y="501457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5256" y="5148072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71600" y="5014570"/>
            <a:ext cx="3972154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Intelligent Error Handling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497787" y="5376672"/>
            <a:ext cx="22677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Config parameter auto-validation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497787" y="5615330"/>
            <a:ext cx="208574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Smart boundary exception tips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497787" y="5853074"/>
            <a:ext cx="181417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Actionable fix suggestions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801868" y="1714500"/>
            <a:ext cx="5820156" cy="4343400"/>
          </a:xfrm>
          <a:prstGeom prst="roundRect">
            <a:avLst>
              <a:gd name="adj" fmla="val 369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39700" dist="1016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48756" y="2257654"/>
            <a:ext cx="5324551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048756" y="1981505"/>
            <a:ext cx="13624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example_usage.py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0960913" y="1995221"/>
            <a:ext cx="4956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6048756" y="2428646"/>
            <a:ext cx="41248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Auto-find optimal spacing for target point count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048756" y="2628900"/>
            <a:ext cx="13624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optimized_points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7329830" y="2628900"/>
            <a:ext cx="324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7569403" y="2628900"/>
            <a:ext cx="7242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8210398" y="2628900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8289950" y="2628900"/>
            <a:ext cx="24176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optimize_spacing_for_target_n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610698" y="2628900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6129223" y="2829154"/>
            <a:ext cx="7242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6769303" y="2829154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129223" y="3029407"/>
            <a:ext cx="7242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6769303" y="3029407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6849770" y="3029407"/>
            <a:ext cx="324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7089343" y="3029407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7250278" y="3029407"/>
            <a:ext cx="16861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Target: 500 points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6129223" y="3228746"/>
            <a:ext cx="9628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min_spacing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7009790" y="3228746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7089343" y="3228746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7249363" y="3228746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7410298" y="3228746"/>
            <a:ext cx="13624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Min: 20 meters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6129223" y="3429000"/>
            <a:ext cx="9628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max_spacing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7009790" y="3429000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7089343" y="3429000"/>
            <a:ext cx="324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7410298" y="3429000"/>
            <a:ext cx="14383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Max: 500 meters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6048756" y="3629254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6048756" y="3829507"/>
            <a:ext cx="30769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One-click multi-strategy comparison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6048756" y="4028846"/>
            <a:ext cx="4005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6449263" y="4028846"/>
            <a:ext cx="324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ssp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6769303" y="4028846"/>
            <a:ext cx="56235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7329830" y="4028846"/>
            <a:ext cx="10387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GridSampling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8289950" y="4028846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8450885" y="4028846"/>
            <a:ext cx="15243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compare_strategies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6048756" y="4229100"/>
            <a:ext cx="6382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6609283" y="4229100"/>
            <a:ext cx="324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6849770" y="4229100"/>
            <a:ext cx="15243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compare_strategies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8289950" y="4229100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6129223" y="4429354"/>
            <a:ext cx="7242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6769303" y="4429354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6129223" y="4629607"/>
            <a:ext cx="8860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6929323" y="4629607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6129223" y="4828946"/>
            <a:ext cx="8860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'Grid 50m'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6929323" y="4828946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7089343" y="4828946"/>
            <a:ext cx="10387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GridSampling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8050378" y="4828946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8129930" y="4828946"/>
            <a:ext cx="6382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spacing</a:t>
            </a:r>
            <a:endParaRPr lang="en-US" sz="1000" dirty="0"/>
          </a:p>
        </p:txBody>
      </p:sp>
      <p:sp>
        <p:nvSpPr>
          <p:cNvPr id="76" name="Text 71"/>
          <p:cNvSpPr txBox="1"/>
          <p:nvPr/>
        </p:nvSpPr>
        <p:spPr>
          <a:xfrm>
            <a:off x="8690458" y="4828946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77" name="Text 72"/>
          <p:cNvSpPr txBox="1"/>
          <p:nvPr/>
        </p:nvSpPr>
        <p:spPr>
          <a:xfrm>
            <a:off x="8770010" y="4828946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8930030" y="4828946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6129223" y="5029200"/>
            <a:ext cx="12006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'Road Network'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7249363" y="5029200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7409383" y="5029200"/>
            <a:ext cx="16002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RoadNetworkSampling</a:t>
            </a:r>
            <a:endParaRPr lang="en-US" sz="1000" dirty="0"/>
          </a:p>
        </p:txBody>
      </p:sp>
      <p:sp>
        <p:nvSpPr>
          <p:cNvPr id="82" name="Text 77"/>
          <p:cNvSpPr txBox="1"/>
          <p:nvPr/>
        </p:nvSpPr>
        <p:spPr>
          <a:xfrm>
            <a:off x="8930030" y="5029200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</p:txBody>
      </p:sp>
      <p:sp>
        <p:nvSpPr>
          <p:cNvPr id="83" name="Text 78"/>
          <p:cNvSpPr txBox="1"/>
          <p:nvPr/>
        </p:nvSpPr>
        <p:spPr>
          <a:xfrm>
            <a:off x="9010498" y="5029200"/>
            <a:ext cx="6382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spacing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9570110" y="5029200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9650578" y="5029200"/>
            <a:ext cx="324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9891065" y="5029200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87" name="Text 82"/>
          <p:cNvSpPr txBox="1"/>
          <p:nvPr/>
        </p:nvSpPr>
        <p:spPr>
          <a:xfrm>
            <a:off x="6048756" y="5229454"/>
            <a:ext cx="2386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8" name="Text 83"/>
          <p:cNvSpPr txBox="1"/>
          <p:nvPr/>
        </p:nvSpPr>
        <p:spPr>
          <a:xfrm>
            <a:off x="6048756" y="5429707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89" name="Text 84"/>
          <p:cNvSpPr txBox="1"/>
          <p:nvPr/>
        </p:nvSpPr>
        <p:spPr>
          <a:xfrm>
            <a:off x="6048756" y="5629046"/>
            <a:ext cx="6382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000" dirty="0"/>
          </a:p>
        </p:txBody>
      </p:sp>
      <p:sp>
        <p:nvSpPr>
          <p:cNvPr id="90" name="Text 85"/>
          <p:cNvSpPr txBox="1"/>
          <p:nvPr/>
        </p:nvSpPr>
        <p:spPr>
          <a:xfrm>
            <a:off x="6609283" y="5629046"/>
            <a:ext cx="16276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000" dirty="0"/>
          </a:p>
        </p:txBody>
      </p:sp>
      <p:sp>
        <p:nvSpPr>
          <p:cNvPr id="91" name="Text 86"/>
          <p:cNvSpPr txBox="1"/>
          <p:nvPr/>
        </p:nvSpPr>
        <p:spPr>
          <a:xfrm>
            <a:off x="6689750" y="5629046"/>
            <a:ext cx="128656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plot_comparison</a:t>
            </a:r>
            <a:endParaRPr lang="en-US" sz="1000" dirty="0"/>
          </a:p>
        </p:txBody>
      </p:sp>
      <p:sp>
        <p:nvSpPr>
          <p:cNvPr id="92" name="Text 87"/>
          <p:cNvSpPr txBox="1"/>
          <p:nvPr/>
        </p:nvSpPr>
        <p:spPr>
          <a:xfrm>
            <a:off x="7889443" y="5629046"/>
            <a:ext cx="324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93" name="Text 88"/>
          <p:cNvSpPr txBox="1"/>
          <p:nvPr/>
        </p:nvSpPr>
        <p:spPr>
          <a:xfrm>
            <a:off x="8129930" y="5629046"/>
            <a:ext cx="25859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visualization charts</a:t>
            </a:r>
            <a:endParaRPr lang="en-US" sz="1000" dirty="0"/>
          </a:p>
        </p:txBody>
      </p:sp>
      <p:sp>
        <p:nvSpPr>
          <p:cNvPr id="94" name="Text 89"/>
          <p:cNvSpPr txBox="1"/>
          <p:nvPr/>
        </p:nvSpPr>
        <p:spPr>
          <a:xfrm>
            <a:off x="11664086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1200" dirty="0"/>
          </a:p>
        </p:txBody>
      </p:sp>
      <p:sp>
        <p:nvSpPr>
          <p:cNvPr id="95" name="Shape 9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6" name="Shape 91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571500" y="286207"/>
            <a:ext cx="97731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Featured Functions &amp; Examples</a:t>
            </a:r>
            <a:endParaRPr lang="en-US" sz="2700" dirty="0"/>
          </a:p>
        </p:txBody>
      </p:sp>
      <p:sp>
        <p:nvSpPr>
          <p:cNvPr id="98" name="Text 93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99" name="Shape 94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076249"/>
            <a:ext cx="4724705" cy="1990649"/>
          </a:xfrm>
          <a:prstGeom prst="roundRect">
            <a:avLst>
              <a:gd name="adj" fmla="val 1758"/>
            </a:avLst>
          </a:prstGeom>
          <a:solidFill>
            <a:srgbClr val="F8FAFC"/>
          </a:solidFill>
        </p:spPr>
      </p:sp>
      <p:sp>
        <p:nvSpPr>
          <p:cNvPr id="5" name="Shape 3"/>
          <p:cNvSpPr/>
          <p:nvPr/>
        </p:nvSpPr>
        <p:spPr>
          <a:xfrm>
            <a:off x="571500" y="1076249"/>
            <a:ext cx="47549" cy="1990649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" y="1552651"/>
            <a:ext cx="4295851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1064" r="-1064"/>
          <a:stretch>
            <a:fillRect/>
          </a:stretch>
        </p:blipFill>
        <p:spPr>
          <a:xfrm>
            <a:off x="809244" y="1261872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798" y="1248156"/>
            <a:ext cx="279989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Case A: Hong Kong Greenspace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695298"/>
            <a:ext cx="61264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Study Area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1895551"/>
            <a:ext cx="19385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Hong Kong Island (~25 km²)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004718" y="1695298"/>
            <a:ext cx="53309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004718" y="1895551"/>
            <a:ext cx="167792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Greenspace Accessibility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2266798"/>
            <a:ext cx="80558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 Sampling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" y="2467051"/>
            <a:ext cx="6007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1,234 pts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2676449"/>
            <a:ext cx="78272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(~49.8 pts/km²)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3004718" y="2266798"/>
            <a:ext cx="80558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004718" y="2467051"/>
            <a:ext cx="4882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892 pts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004718" y="2676449"/>
            <a:ext cx="78272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(~36.0 pts/km²)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71500" y="3252521"/>
            <a:ext cx="4724705" cy="1990649"/>
          </a:xfrm>
          <a:prstGeom prst="roundRect">
            <a:avLst>
              <a:gd name="adj" fmla="val 1758"/>
            </a:avLst>
          </a:prstGeom>
          <a:solidFill>
            <a:srgbClr val="F8FAFC"/>
          </a:solidFill>
        </p:spPr>
      </p:sp>
      <p:sp>
        <p:nvSpPr>
          <p:cNvPr id="20" name="Shape 17"/>
          <p:cNvSpPr/>
          <p:nvPr/>
        </p:nvSpPr>
        <p:spPr>
          <a:xfrm>
            <a:off x="571500" y="3252521"/>
            <a:ext cx="47549" cy="1990649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9244" y="3729838"/>
            <a:ext cx="4295851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 t="-842" b="-842"/>
          <a:stretch>
            <a:fillRect/>
          </a:stretch>
        </p:blipFill>
        <p:spPr>
          <a:xfrm>
            <a:off x="809244" y="3438144"/>
            <a:ext cx="190195" cy="17190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5451" y="3424428"/>
            <a:ext cx="270936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Case B: Milan Large-scale Test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09244" y="3871570"/>
            <a:ext cx="61264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Study Area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09244" y="4071823"/>
            <a:ext cx="20290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Milan Urban Area (~345 km²)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3004718" y="3871570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Spacing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004718" y="4071823"/>
            <a:ext cx="73700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 meters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09244" y="4414723"/>
            <a:ext cx="94091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Points Generated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809244" y="4614977"/>
            <a:ext cx="68031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35,721 pts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3004718" y="4414723"/>
            <a:ext cx="70317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004718" y="4634179"/>
            <a:ext cx="676656" cy="209398"/>
          </a:xfrm>
          <a:prstGeom prst="roundRect">
            <a:avLst>
              <a:gd name="adj" fmla="val 79396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062326" y="4671670"/>
            <a:ext cx="66934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Time &lt; 1.0s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004718" y="4881982"/>
            <a:ext cx="75986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(~40,133 pts/s)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71500" y="5572354"/>
            <a:ext cx="4724705" cy="1047902"/>
          </a:xfrm>
          <a:prstGeom prst="roundRect">
            <a:avLst>
              <a:gd name="adj" fmla="val 4760"/>
            </a:avLst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rcRect l="-1773" r="-1773"/>
          <a:stretch>
            <a:fillRect/>
          </a:stretch>
        </p:blipFill>
        <p:spPr>
          <a:xfrm>
            <a:off x="694944" y="5715000"/>
            <a:ext cx="133502" cy="171907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923544" y="5695798"/>
            <a:ext cx="4325112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2A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Key Findings:</a:t>
            </a:r>
            <a:r>
              <a:rPr lang="en-US" sz="1000" dirty="0">
                <a:solidFill>
                  <a:srgbClr val="742A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Grid sampling provides uniform coverage for regional evaluation, while Road Network sampling aligns better with streetscape studies. The high-performance engine ensures sub-second response for large-scale areas.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533949" y="1076249"/>
            <a:ext cx="6086246" cy="5544007"/>
          </a:xfrm>
          <a:prstGeom prst="roundRect">
            <a:avLst>
              <a:gd name="adj" fmla="val 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7013448" y="1257300"/>
            <a:ext cx="312907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Strategy Performance &amp; Characteristics</a:t>
            </a:r>
            <a:endParaRPr lang="en-US" sz="12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rcRect l="-1" r="-1"/>
          <a:stretch>
            <a:fillRect/>
          </a:stretch>
        </p:blipFill>
        <p:spPr>
          <a:xfrm>
            <a:off x="5686654" y="1552651"/>
            <a:ext cx="5781751" cy="491490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Shape 36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71500" y="237744"/>
            <a:ext cx="9953244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Application Cases: Hong Kong + Milan + Comparison</a:t>
            </a:r>
            <a:endParaRPr lang="en-US" sz="2500" dirty="0"/>
          </a:p>
        </p:txBody>
      </p:sp>
      <p:sp>
        <p:nvSpPr>
          <p:cNvPr id="44" name="Text 38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123798"/>
            <a:ext cx="5391302" cy="1904695"/>
          </a:xfrm>
          <a:prstGeom prst="roundRect">
            <a:avLst>
              <a:gd name="adj" fmla="val 192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123798"/>
            <a:ext cx="47549" cy="1886407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1754" y="1367028"/>
            <a:ext cx="171907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37844" y="1352398"/>
            <a:ext cx="368594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Agile Development Process (Agile &amp; TDD)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1687068" y="2176272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3154680" y="2176272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4607662" y="2176272"/>
            <a:ext cx="123444" cy="19019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243523" y="1123798"/>
            <a:ext cx="5381244" cy="1904695"/>
          </a:xfrm>
          <a:prstGeom prst="roundRect">
            <a:avLst>
              <a:gd name="adj" fmla="val 192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6243523" y="1123798"/>
            <a:ext cx="47549" cy="1886407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6433718" y="1367028"/>
            <a:ext cx="190195" cy="1719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719926" y="1352398"/>
            <a:ext cx="142829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Tech Stack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6433718" y="1723644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58077" y="1904695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805879" y="1910182"/>
            <a:ext cx="77083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GeoPandas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7545629" y="1828800"/>
            <a:ext cx="381305" cy="305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 Data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8128102" y="1723644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8251546" y="1904695"/>
            <a:ext cx="133502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480146" y="1910182"/>
            <a:ext cx="54406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Shapely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145829" y="1914754"/>
            <a:ext cx="54406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Geometry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9821570" y="1723644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rcRect l="-33" r="-33"/>
          <a:stretch>
            <a:fillRect/>
          </a:stretch>
        </p:blipFill>
        <p:spPr>
          <a:xfrm>
            <a:off x="9945929" y="1904695"/>
            <a:ext cx="171907" cy="1527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212019" y="1910182"/>
            <a:ext cx="5239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OSMnx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10752430" y="1828800"/>
            <a:ext cx="505663" cy="305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Street Networks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6433718" y="2333549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6558077" y="2514600"/>
            <a:ext cx="171907" cy="1527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825082" y="2519172"/>
            <a:ext cx="6858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NetworkX</a:t>
            </a:r>
            <a:endParaRPr lang="en-US" sz="1000" dirty="0"/>
          </a:p>
        </p:txBody>
      </p:sp>
      <p:sp>
        <p:nvSpPr>
          <p:cNvPr id="30" name="Text 19"/>
          <p:cNvSpPr txBox="1"/>
          <p:nvPr/>
        </p:nvSpPr>
        <p:spPr>
          <a:xfrm>
            <a:off x="7512710" y="2438705"/>
            <a:ext cx="342900" cy="305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Graph Algo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8128102" y="2333549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/>
          <a:srcRect t="-43" b="-43"/>
          <a:stretch>
            <a:fillRect/>
          </a:stretch>
        </p:blipFill>
        <p:spPr>
          <a:xfrm>
            <a:off x="8251546" y="2514600"/>
            <a:ext cx="133502" cy="1527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8480146" y="2519172"/>
            <a:ext cx="4288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Pytest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9267444" y="2523744"/>
            <a:ext cx="4197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Testing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9821570" y="2333549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rcRect l="-33" r="-33"/>
          <a:stretch>
            <a:fillRect/>
          </a:stretch>
        </p:blipFill>
        <p:spPr>
          <a:xfrm>
            <a:off x="9945929" y="2514600"/>
            <a:ext cx="171907" cy="15270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0212019" y="2519172"/>
            <a:ext cx="3813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Click</a:t>
            </a:r>
            <a:endParaRPr lang="en-US" sz="1000" dirty="0"/>
          </a:p>
        </p:txBody>
      </p:sp>
      <p:sp>
        <p:nvSpPr>
          <p:cNvPr id="38" name="Text 25"/>
          <p:cNvSpPr txBox="1"/>
          <p:nvPr/>
        </p:nvSpPr>
        <p:spPr>
          <a:xfrm>
            <a:off x="10877702" y="2523744"/>
            <a:ext cx="49926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Tool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571500" y="3314700"/>
            <a:ext cx="38405" cy="256946"/>
          </a:xfrm>
          <a:prstGeom prst="rect">
            <a:avLst/>
          </a:prstGeom>
          <a:solidFill>
            <a:srgbClr val="1E5288"/>
          </a:solidFill>
          <a:ln w="12700">
            <a:solidFill>
              <a:srgbClr val="1E5288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705002" y="3343046"/>
            <a:ext cx="26417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 Development Timeline</a:t>
            </a:r>
            <a:endParaRPr lang="en-US" sz="1300" dirty="0"/>
          </a:p>
        </p:txBody>
      </p:sp>
      <p:sp>
        <p:nvSpPr>
          <p:cNvPr id="41" name="Text 28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Shape 29"/>
          <p:cNvSpPr/>
          <p:nvPr/>
        </p:nvSpPr>
        <p:spPr>
          <a:xfrm>
            <a:off x="761695" y="4143146"/>
            <a:ext cx="10668305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950062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55218" y="2038198"/>
            <a:ext cx="171907" cy="171907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909828" y="2438705"/>
            <a:ext cx="4672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Design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2292401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2396642" y="2038198"/>
            <a:ext cx="171907" cy="171907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2104034" y="2438705"/>
            <a:ext cx="75986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Test (TDD)</a:t>
            </a:r>
            <a:endParaRPr lang="en-US" sz="1000" dirty="0"/>
          </a:p>
        </p:txBody>
      </p:sp>
      <p:sp>
        <p:nvSpPr>
          <p:cNvPr id="49" name="Shape 34"/>
          <p:cNvSpPr/>
          <p:nvPr/>
        </p:nvSpPr>
        <p:spPr>
          <a:xfrm>
            <a:off x="3752698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2"/>
          <a:srcRect l="-1064" r="-1064"/>
          <a:stretch>
            <a:fillRect/>
          </a:stretch>
        </p:blipFill>
        <p:spPr>
          <a:xfrm>
            <a:off x="3833165" y="2038198"/>
            <a:ext cx="219456" cy="171907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3571646" y="2438705"/>
            <a:ext cx="74889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Implement</a:t>
            </a:r>
            <a:endParaRPr lang="en-US" sz="1000" dirty="0"/>
          </a:p>
        </p:txBody>
      </p:sp>
      <p:sp>
        <p:nvSpPr>
          <p:cNvPr id="52" name="Shape 36"/>
          <p:cNvSpPr/>
          <p:nvPr/>
        </p:nvSpPr>
        <p:spPr>
          <a:xfrm>
            <a:off x="5142586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5246827" y="2038198"/>
            <a:ext cx="171907" cy="171907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5037430" y="2438705"/>
            <a:ext cx="6007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Refactor</a:t>
            </a:r>
            <a:endParaRPr lang="en-US" sz="1000" dirty="0"/>
          </a:p>
        </p:txBody>
      </p:sp>
      <p:sp>
        <p:nvSpPr>
          <p:cNvPr id="55" name="Shape 38"/>
          <p:cNvSpPr/>
          <p:nvPr/>
        </p:nvSpPr>
        <p:spPr>
          <a:xfrm>
            <a:off x="1857146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99E1"/>
            </a:solidFill>
            <a:prstDash val="solid"/>
          </a:ln>
        </p:spPr>
      </p:sp>
      <p:sp>
        <p:nvSpPr>
          <p:cNvPr id="56" name="Shape 39"/>
          <p:cNvSpPr/>
          <p:nvPr/>
        </p:nvSpPr>
        <p:spPr>
          <a:xfrm>
            <a:off x="666598" y="4638751"/>
            <a:ext cx="2572207" cy="160020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7" name="Shape 40"/>
          <p:cNvSpPr/>
          <p:nvPr/>
        </p:nvSpPr>
        <p:spPr>
          <a:xfrm>
            <a:off x="666598" y="4638751"/>
            <a:ext cx="2572207" cy="38405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58" name="Text 41"/>
          <p:cNvSpPr txBox="1"/>
          <p:nvPr/>
        </p:nvSpPr>
        <p:spPr>
          <a:xfrm>
            <a:off x="819302" y="4848149"/>
            <a:ext cx="155356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Architecture Design</a:t>
            </a:r>
            <a:endParaRPr lang="en-US" sz="1200" dirty="0"/>
          </a:p>
        </p:txBody>
      </p:sp>
      <p:sp>
        <p:nvSpPr>
          <p:cNvPr id="59" name="Shape 42"/>
          <p:cNvSpPr/>
          <p:nvPr/>
        </p:nvSpPr>
        <p:spPr>
          <a:xfrm>
            <a:off x="1592885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3"/>
          <p:cNvSpPr txBox="1"/>
          <p:nvPr/>
        </p:nvSpPr>
        <p:spPr>
          <a:xfrm>
            <a:off x="1687982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1-2</a:t>
            </a:r>
            <a:endParaRPr lang="en-US" sz="1000" dirty="0"/>
          </a:p>
        </p:txBody>
      </p:sp>
      <p:sp>
        <p:nvSpPr>
          <p:cNvPr id="61" name="Text 44"/>
          <p:cNvSpPr txBox="1"/>
          <p:nvPr/>
        </p:nvSpPr>
        <p:spPr>
          <a:xfrm>
            <a:off x="961949" y="5171846"/>
            <a:ext cx="196138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Requirements Analysis &amp; Interface Definition</a:t>
            </a:r>
            <a:endParaRPr lang="en-US" sz="1000" dirty="0"/>
          </a:p>
        </p:txBody>
      </p:sp>
      <p:sp>
        <p:nvSpPr>
          <p:cNvPr id="62" name="Text 45"/>
          <p:cNvSpPr txBox="1"/>
          <p:nvPr/>
        </p:nvSpPr>
        <p:spPr>
          <a:xfrm>
            <a:off x="961949" y="5619902"/>
            <a:ext cx="207477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Technology Selection Validation</a:t>
            </a:r>
            <a:endParaRPr lang="en-US" sz="1000" dirty="0"/>
          </a:p>
        </p:txBody>
      </p:sp>
      <p:sp>
        <p:nvSpPr>
          <p:cNvPr id="63" name="Text 46"/>
          <p:cNvSpPr txBox="1"/>
          <p:nvPr/>
        </p:nvSpPr>
        <p:spPr>
          <a:xfrm>
            <a:off x="961949" y="5867705"/>
            <a:ext cx="233537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SamplingConfig Data Model Design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4619549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8BB78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3429000" y="4638751"/>
            <a:ext cx="2572207" cy="1399946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6" name="Shape 49"/>
          <p:cNvSpPr/>
          <p:nvPr/>
        </p:nvSpPr>
        <p:spPr>
          <a:xfrm>
            <a:off x="3429000" y="4638751"/>
            <a:ext cx="2572207" cy="38405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>
                <a:alpha val="0"/>
              </a:srgbClr>
            </a:solidFill>
            <a:prstDash val="solid"/>
          </a:ln>
        </p:spPr>
      </p:sp>
      <p:sp>
        <p:nvSpPr>
          <p:cNvPr id="67" name="Text 50"/>
          <p:cNvSpPr txBox="1"/>
          <p:nvPr/>
        </p:nvSpPr>
        <p:spPr>
          <a:xfrm>
            <a:off x="3581705" y="4848149"/>
            <a:ext cx="16669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Implementation</a:t>
            </a:r>
            <a:endParaRPr lang="en-US" sz="1200" dirty="0"/>
          </a:p>
        </p:txBody>
      </p:sp>
      <p:sp>
        <p:nvSpPr>
          <p:cNvPr id="68" name="Shape 51"/>
          <p:cNvSpPr/>
          <p:nvPr/>
        </p:nvSpPr>
        <p:spPr>
          <a:xfrm>
            <a:off x="4354373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52"/>
          <p:cNvSpPr txBox="1"/>
          <p:nvPr/>
        </p:nvSpPr>
        <p:spPr>
          <a:xfrm>
            <a:off x="4450385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3-4</a:t>
            </a:r>
            <a:endParaRPr lang="en-US" sz="1000" dirty="0"/>
          </a:p>
        </p:txBody>
      </p:sp>
      <p:sp>
        <p:nvSpPr>
          <p:cNvPr id="70" name="Text 53"/>
          <p:cNvSpPr txBox="1"/>
          <p:nvPr/>
        </p:nvSpPr>
        <p:spPr>
          <a:xfrm>
            <a:off x="3724351" y="5171846"/>
            <a:ext cx="163311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 Sampling Algorithm</a:t>
            </a:r>
            <a:endParaRPr lang="en-US" sz="1000" dirty="0"/>
          </a:p>
        </p:txBody>
      </p:sp>
      <p:sp>
        <p:nvSpPr>
          <p:cNvPr id="71" name="Text 54"/>
          <p:cNvSpPr txBox="1"/>
          <p:nvPr/>
        </p:nvSpPr>
        <p:spPr>
          <a:xfrm>
            <a:off x="3724351" y="5419649"/>
            <a:ext cx="16669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 Integration</a:t>
            </a:r>
            <a:endParaRPr lang="en-US" sz="1000" dirty="0"/>
          </a:p>
        </p:txBody>
      </p:sp>
      <p:sp>
        <p:nvSpPr>
          <p:cNvPr id="72" name="Text 55"/>
          <p:cNvSpPr txBox="1"/>
          <p:nvPr/>
        </p:nvSpPr>
        <p:spPr>
          <a:xfrm>
            <a:off x="3724351" y="5667451"/>
            <a:ext cx="110002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Metadata System</a:t>
            </a:r>
            <a:endParaRPr lang="en-US" sz="1000" dirty="0"/>
          </a:p>
        </p:txBody>
      </p:sp>
      <p:sp>
        <p:nvSpPr>
          <p:cNvPr id="73" name="Shape 56"/>
          <p:cNvSpPr/>
          <p:nvPr/>
        </p:nvSpPr>
        <p:spPr>
          <a:xfrm>
            <a:off x="7381951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CC94B"/>
            </a:solidFill>
            <a:prstDash val="solid"/>
          </a:ln>
        </p:spPr>
      </p:sp>
      <p:sp>
        <p:nvSpPr>
          <p:cNvPr id="74" name="Shape 57"/>
          <p:cNvSpPr/>
          <p:nvPr/>
        </p:nvSpPr>
        <p:spPr>
          <a:xfrm>
            <a:off x="6191402" y="4638751"/>
            <a:ext cx="2572207" cy="160020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75" name="Shape 58"/>
          <p:cNvSpPr/>
          <p:nvPr/>
        </p:nvSpPr>
        <p:spPr>
          <a:xfrm>
            <a:off x="6191402" y="4638751"/>
            <a:ext cx="2572207" cy="38405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>
                <a:alpha val="0"/>
              </a:srgbClr>
            </a:solidFill>
            <a:prstDash val="solid"/>
          </a:ln>
        </p:spPr>
      </p:sp>
      <p:sp>
        <p:nvSpPr>
          <p:cNvPr id="76" name="Text 59"/>
          <p:cNvSpPr txBox="1"/>
          <p:nvPr/>
        </p:nvSpPr>
        <p:spPr>
          <a:xfrm>
            <a:off x="6344107" y="4848149"/>
            <a:ext cx="155356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Feature Refinement</a:t>
            </a:r>
            <a:endParaRPr lang="en-US" sz="1200" dirty="0"/>
          </a:p>
        </p:txBody>
      </p:sp>
      <p:sp>
        <p:nvSpPr>
          <p:cNvPr id="77" name="Shape 60"/>
          <p:cNvSpPr/>
          <p:nvPr/>
        </p:nvSpPr>
        <p:spPr>
          <a:xfrm>
            <a:off x="7116775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1"/>
          <p:cNvSpPr txBox="1"/>
          <p:nvPr/>
        </p:nvSpPr>
        <p:spPr>
          <a:xfrm>
            <a:off x="7211873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5-6</a:t>
            </a:r>
            <a:endParaRPr lang="en-US" sz="1000" dirty="0"/>
          </a:p>
        </p:txBody>
      </p:sp>
      <p:sp>
        <p:nvSpPr>
          <p:cNvPr id="79" name="Text 62"/>
          <p:cNvSpPr txBox="1"/>
          <p:nvPr/>
        </p:nvSpPr>
        <p:spPr>
          <a:xfrm>
            <a:off x="6486754" y="5171846"/>
            <a:ext cx="13716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Visualization Module</a:t>
            </a:r>
            <a:endParaRPr lang="en-US" sz="1000" dirty="0"/>
          </a:p>
        </p:txBody>
      </p:sp>
      <p:sp>
        <p:nvSpPr>
          <p:cNvPr id="80" name="Text 63"/>
          <p:cNvSpPr txBox="1"/>
          <p:nvPr/>
        </p:nvSpPr>
        <p:spPr>
          <a:xfrm>
            <a:off x="6486754" y="5419649"/>
            <a:ext cx="147675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 Optimization (Cache/Parallel)</a:t>
            </a:r>
            <a:endParaRPr lang="en-US" sz="1000" dirty="0"/>
          </a:p>
        </p:txBody>
      </p:sp>
      <p:sp>
        <p:nvSpPr>
          <p:cNvPr id="81" name="Text 64"/>
          <p:cNvSpPr txBox="1"/>
          <p:nvPr/>
        </p:nvSpPr>
        <p:spPr>
          <a:xfrm>
            <a:off x="6486754" y="5867705"/>
            <a:ext cx="163311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Tool Implementation</a:t>
            </a:r>
            <a:endParaRPr lang="en-US" sz="1000" dirty="0"/>
          </a:p>
        </p:txBody>
      </p:sp>
      <p:sp>
        <p:nvSpPr>
          <p:cNvPr id="82" name="Shape 65"/>
          <p:cNvSpPr/>
          <p:nvPr/>
        </p:nvSpPr>
        <p:spPr>
          <a:xfrm>
            <a:off x="10144354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6565"/>
            </a:solidFill>
            <a:prstDash val="solid"/>
          </a:ln>
        </p:spPr>
      </p:sp>
      <p:sp>
        <p:nvSpPr>
          <p:cNvPr id="83" name="Shape 66"/>
          <p:cNvSpPr/>
          <p:nvPr/>
        </p:nvSpPr>
        <p:spPr>
          <a:xfrm>
            <a:off x="8953805" y="4638751"/>
            <a:ext cx="2572207" cy="1399946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84" name="Shape 67"/>
          <p:cNvSpPr/>
          <p:nvPr/>
        </p:nvSpPr>
        <p:spPr>
          <a:xfrm>
            <a:off x="8953805" y="4638751"/>
            <a:ext cx="2572207" cy="38405"/>
          </a:xfrm>
          <a:prstGeom prst="rect">
            <a:avLst/>
          </a:prstGeom>
          <a:solidFill>
            <a:srgbClr val="F56565"/>
          </a:solidFill>
          <a:ln w="12700">
            <a:solidFill>
              <a:srgbClr val="F56565">
                <a:alpha val="0"/>
              </a:srgbClr>
            </a:solidFill>
            <a:prstDash val="solid"/>
          </a:ln>
        </p:spPr>
      </p:sp>
      <p:sp>
        <p:nvSpPr>
          <p:cNvPr id="85" name="Text 68"/>
          <p:cNvSpPr txBox="1"/>
          <p:nvPr/>
        </p:nvSpPr>
        <p:spPr>
          <a:xfrm>
            <a:off x="9105595" y="4848149"/>
            <a:ext cx="199522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Testing &amp; Documentation</a:t>
            </a:r>
            <a:endParaRPr lang="en-US" sz="1200" dirty="0"/>
          </a:p>
        </p:txBody>
      </p:sp>
      <p:sp>
        <p:nvSpPr>
          <p:cNvPr id="86" name="Shape 69"/>
          <p:cNvSpPr/>
          <p:nvPr/>
        </p:nvSpPr>
        <p:spPr>
          <a:xfrm>
            <a:off x="9879178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70"/>
          <p:cNvSpPr txBox="1"/>
          <p:nvPr/>
        </p:nvSpPr>
        <p:spPr>
          <a:xfrm>
            <a:off x="9974275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7-8</a:t>
            </a:r>
            <a:endParaRPr lang="en-US" sz="1000" dirty="0"/>
          </a:p>
        </p:txBody>
      </p:sp>
      <p:sp>
        <p:nvSpPr>
          <p:cNvPr id="88" name="Text 71"/>
          <p:cNvSpPr txBox="1"/>
          <p:nvPr/>
        </p:nvSpPr>
        <p:spPr>
          <a:xfrm>
            <a:off x="9249156" y="5171846"/>
            <a:ext cx="155356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Unit &amp; Integration Tests</a:t>
            </a:r>
            <a:endParaRPr lang="en-US" sz="1000" dirty="0"/>
          </a:p>
        </p:txBody>
      </p:sp>
      <p:sp>
        <p:nvSpPr>
          <p:cNvPr id="89" name="Text 72"/>
          <p:cNvSpPr txBox="1"/>
          <p:nvPr/>
        </p:nvSpPr>
        <p:spPr>
          <a:xfrm>
            <a:off x="9249156" y="5419649"/>
            <a:ext cx="128107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Documentation</a:t>
            </a:r>
            <a:endParaRPr lang="en-US" sz="1000" dirty="0"/>
          </a:p>
        </p:txBody>
      </p:sp>
      <p:sp>
        <p:nvSpPr>
          <p:cNvPr id="90" name="Text 73"/>
          <p:cNvSpPr txBox="1"/>
          <p:nvPr/>
        </p:nvSpPr>
        <p:spPr>
          <a:xfrm>
            <a:off x="9249156" y="5667451"/>
            <a:ext cx="150784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Case Studies Validation</a:t>
            </a:r>
            <a:endParaRPr lang="en-US" sz="1000" dirty="0"/>
          </a:p>
        </p:txBody>
      </p:sp>
      <p:sp>
        <p:nvSpPr>
          <p:cNvPr id="91" name="Shape 74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2" name="Shape 75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3" name="Text 76"/>
          <p:cNvSpPr txBox="1"/>
          <p:nvPr/>
        </p:nvSpPr>
        <p:spPr>
          <a:xfrm>
            <a:off x="571500" y="237744"/>
            <a:ext cx="969721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Development Process &amp; Methodology</a:t>
            </a:r>
            <a:endParaRPr lang="en-US" sz="2500" dirty="0"/>
          </a:p>
        </p:txBody>
      </p:sp>
      <p:sp>
        <p:nvSpPr>
          <p:cNvPr id="94" name="Text 77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95" name="Shape 78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218895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18895"/>
            <a:ext cx="5410505" cy="38405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" y="1257300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7" name="Shape 5"/>
          <p:cNvSpPr/>
          <p:nvPr/>
        </p:nvSpPr>
        <p:spPr>
          <a:xfrm>
            <a:off x="3047695" y="1257300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754" y="1705356"/>
            <a:ext cx="304495" cy="304495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7707" y="1791310"/>
            <a:ext cx="133502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1754" y="2124151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71754" y="2352751"/>
            <a:ext cx="216987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CRS Heterogeneity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1754" y="2670962"/>
            <a:ext cx="2162556" cy="600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Inconsistent spacing units across different CRS (e.g., EPSG:4326/3857) lead to incorrect sampling intervals.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48610" y="1257300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38805" y="1638605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1867205"/>
            <a:ext cx="105156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43961" y="1895551"/>
            <a:ext cx="238201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Automatic unit identification &amp; conversion logic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2343607"/>
            <a:ext cx="105156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43961" y="2371954"/>
            <a:ext cx="27432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Latitude-aware adaptive degree calculation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38805" y="2714854"/>
            <a:ext cx="2542946" cy="647395"/>
          </a:xfrm>
          <a:prstGeom prst="roundRect">
            <a:avLst>
              <a:gd name="adj" fmla="val 8308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238805" y="2714854"/>
            <a:ext cx="28346" cy="6473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343961" y="2819095"/>
            <a:ext cx="146761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if crs == "EPSG:4326":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3343961" y="2976372"/>
            <a:ext cx="2153412" cy="277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return meters_to_degrees(spacing, lat)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215177" y="1218895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5177" y="1218895"/>
            <a:ext cx="5410505" cy="38405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24321" y="1257300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26" name="Shape 21"/>
          <p:cNvSpPr/>
          <p:nvPr/>
        </p:nvSpPr>
        <p:spPr>
          <a:xfrm>
            <a:off x="8691372" y="1257300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15430" y="1705356"/>
            <a:ext cx="304495" cy="304495"/>
          </a:xfrm>
          <a:prstGeom prst="ellipse">
            <a:avLst/>
          </a:prstGeom>
          <a:solidFill>
            <a:srgbClr val="FFF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rcRect l="-837" r="-837"/>
          <a:stretch>
            <a:fillRect/>
          </a:stretch>
        </p:blipFill>
        <p:spPr>
          <a:xfrm>
            <a:off x="6491326" y="1791310"/>
            <a:ext cx="152705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415430" y="2124151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02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415430" y="2352751"/>
            <a:ext cx="24825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 Bottlenecks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15430" y="2670962"/>
            <a:ext cx="2162556" cy="600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Unstable OSM API download times and extremely slow graph traversal for large regions.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692286" y="1257300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882482" y="1638605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1867205"/>
            <a:ext cx="105156" cy="1143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86723" y="1895551"/>
            <a:ext cx="223296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Implement Disk Cache mechanism</a:t>
            </a:r>
            <a:endParaRPr lang="en-US" sz="10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2143354"/>
            <a:ext cx="105156" cy="1143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986723" y="2171700"/>
            <a:ext cx="226771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Async download + timeout with fallback strategy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8882482" y="2714854"/>
            <a:ext cx="2542946" cy="647395"/>
          </a:xfrm>
          <a:prstGeom prst="roundRect">
            <a:avLst>
              <a:gd name="adj" fmla="val 8308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882482" y="2714854"/>
            <a:ext cx="28346" cy="6473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986723" y="2819095"/>
            <a:ext cx="146761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@lru_cache(maxsize=10)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8986723" y="2976372"/>
            <a:ext cx="2343607" cy="277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def download_network(boundary_hash): ...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571500" y="3967582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71500" y="3967582"/>
            <a:ext cx="5410505" cy="38405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80644" y="4005072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45" name="Shape 37"/>
          <p:cNvSpPr/>
          <p:nvPr/>
        </p:nvSpPr>
        <p:spPr>
          <a:xfrm>
            <a:off x="3047695" y="4005072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71754" y="4453128"/>
            <a:ext cx="304495" cy="304495"/>
          </a:xfrm>
          <a:prstGeom prst="ellipse">
            <a:avLst/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7707" y="4539082"/>
            <a:ext cx="133502" cy="133502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71754" y="4872838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03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771754" y="5101438"/>
            <a:ext cx="216987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Large-Scale Viz Lag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771754" y="5419649"/>
            <a:ext cx="2162556" cy="600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Real-time rendering of 35,000+ points and statistical charts causes UI freezing.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3048610" y="4005072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3238805" y="4486046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4714646"/>
            <a:ext cx="105156" cy="1143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3343961" y="4743907"/>
            <a:ext cx="219913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Smart downsampling for previews</a:t>
            </a:r>
            <a:endParaRPr lang="en-US" sz="10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4990795"/>
            <a:ext cx="105156" cy="11430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3343961" y="5020056"/>
            <a:ext cx="256214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Chunked parallel calculation for metrics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3238805" y="5362956"/>
            <a:ext cx="2542946" cy="647395"/>
          </a:xfrm>
          <a:prstGeom prst="roundRect">
            <a:avLst>
              <a:gd name="adj" fmla="val 8308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3238805" y="5362956"/>
            <a:ext cx="28346" cy="6473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3343961" y="5467198"/>
            <a:ext cx="2029054" cy="277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chunks = np.array_split(points, n_chunks)</a:t>
            </a:r>
            <a:endParaRPr lang="en-US" sz="800" dirty="0"/>
          </a:p>
        </p:txBody>
      </p:sp>
      <p:sp>
        <p:nvSpPr>
          <p:cNvPr id="60" name="Text 49"/>
          <p:cNvSpPr txBox="1"/>
          <p:nvPr/>
        </p:nvSpPr>
        <p:spPr>
          <a:xfrm>
            <a:off x="3343961" y="5781751"/>
            <a:ext cx="229880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executor.map(compute_stats, chunks)</a:t>
            </a:r>
            <a:endParaRPr lang="en-US" sz="800" dirty="0"/>
          </a:p>
        </p:txBody>
      </p:sp>
      <p:sp>
        <p:nvSpPr>
          <p:cNvPr id="61" name="Shape 50"/>
          <p:cNvSpPr/>
          <p:nvPr/>
        </p:nvSpPr>
        <p:spPr>
          <a:xfrm>
            <a:off x="6215177" y="3967582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6215177" y="3967582"/>
            <a:ext cx="5410505" cy="38405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6224321" y="4005072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64" name="Shape 53"/>
          <p:cNvSpPr/>
          <p:nvPr/>
        </p:nvSpPr>
        <p:spPr>
          <a:xfrm>
            <a:off x="8691372" y="4005072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6415430" y="4453128"/>
            <a:ext cx="304495" cy="304495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5"/>
          <a:srcRect l="-2512" r="-2512"/>
          <a:stretch>
            <a:fillRect/>
          </a:stretch>
        </p:blipFill>
        <p:spPr>
          <a:xfrm>
            <a:off x="6515100" y="4539082"/>
            <a:ext cx="105156" cy="133502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415430" y="4872838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04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6415430" y="5101438"/>
            <a:ext cx="22101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Reproducibility Docs</a:t>
            </a:r>
            <a:endParaRPr lang="en-US" sz="1300" dirty="0"/>
          </a:p>
        </p:txBody>
      </p:sp>
      <p:sp>
        <p:nvSpPr>
          <p:cNvPr id="69" name="Text 57"/>
          <p:cNvSpPr txBox="1"/>
          <p:nvPr/>
        </p:nvSpPr>
        <p:spPr>
          <a:xfrm>
            <a:off x="6415430" y="5419649"/>
            <a:ext cx="2162556" cy="600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How to fully record complex sampling parameters so they can be completely reproduced by others?</a:t>
            </a:r>
            <a:endParaRPr lang="en-US" sz="1000" dirty="0"/>
          </a:p>
        </p:txBody>
      </p:sp>
      <p:sp>
        <p:nvSpPr>
          <p:cNvPr id="70" name="Shape 58"/>
          <p:cNvSpPr/>
          <p:nvPr/>
        </p:nvSpPr>
        <p:spPr>
          <a:xfrm>
            <a:off x="8692286" y="4005072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8882482" y="4465015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4693615"/>
            <a:ext cx="105156" cy="114300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8986723" y="4721962"/>
            <a:ext cx="28227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Design structured Dataclass metadata model</a:t>
            </a:r>
            <a:endParaRPr lang="en-US" sz="1000" dirty="0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4969764"/>
            <a:ext cx="105156" cy="114300"/>
          </a:xfrm>
          <a:prstGeom prst="rect">
            <a:avLst/>
          </a:prstGeom>
        </p:spPr>
      </p:pic>
      <p:sp>
        <p:nvSpPr>
          <p:cNvPr id="75" name="Text 61"/>
          <p:cNvSpPr txBox="1"/>
          <p:nvPr/>
        </p:nvSpPr>
        <p:spPr>
          <a:xfrm>
            <a:off x="8986723" y="4998110"/>
            <a:ext cx="2343607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WHO/WHAT/WHEN/WHERE/HOW full coverage</a:t>
            </a:r>
            <a:endParaRPr lang="en-US" sz="1000" dirty="0"/>
          </a:p>
        </p:txBody>
      </p:sp>
      <p:sp>
        <p:nvSpPr>
          <p:cNvPr id="76" name="Shape 62"/>
          <p:cNvSpPr/>
          <p:nvPr/>
        </p:nvSpPr>
        <p:spPr>
          <a:xfrm>
            <a:off x="8882482" y="5541264"/>
            <a:ext cx="2542946" cy="485546"/>
          </a:xfrm>
          <a:prstGeom prst="roundRect">
            <a:avLst>
              <a:gd name="adj" fmla="val 14771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8882482" y="5541264"/>
            <a:ext cx="28346" cy="48554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78" name="Text 64"/>
          <p:cNvSpPr txBox="1"/>
          <p:nvPr/>
        </p:nvSpPr>
        <p:spPr>
          <a:xfrm>
            <a:off x="8986723" y="5645506"/>
            <a:ext cx="71506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@dataclass</a:t>
            </a:r>
            <a:endParaRPr lang="en-US" sz="800" dirty="0"/>
          </a:p>
        </p:txBody>
      </p:sp>
      <p:sp>
        <p:nvSpPr>
          <p:cNvPr id="79" name="Text 65"/>
          <p:cNvSpPr txBox="1"/>
          <p:nvPr/>
        </p:nvSpPr>
        <p:spPr>
          <a:xfrm>
            <a:off x="8986723" y="5802782"/>
            <a:ext cx="178125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class SamplingMetadata: ...</a:t>
            </a:r>
            <a:endParaRPr lang="en-US" sz="800" dirty="0"/>
          </a:p>
        </p:txBody>
      </p:sp>
      <p:sp>
        <p:nvSpPr>
          <p:cNvPr id="80" name="Text 66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14</a:t>
            </a:r>
            <a:endParaRPr lang="en-US" sz="1200" dirty="0"/>
          </a:p>
        </p:txBody>
      </p:sp>
      <p:sp>
        <p:nvSpPr>
          <p:cNvPr id="81" name="Shape 67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Shape 68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3" name="Text 69"/>
          <p:cNvSpPr txBox="1"/>
          <p:nvPr/>
        </p:nvSpPr>
        <p:spPr>
          <a:xfrm>
            <a:off x="571500" y="237744"/>
            <a:ext cx="969721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Technical Challenges &amp; Solutions</a:t>
            </a:r>
            <a:endParaRPr lang="en-US" sz="2500" dirty="0"/>
          </a:p>
        </p:txBody>
      </p:sp>
      <p:sp>
        <p:nvSpPr>
          <p:cNvPr id="84" name="Text 70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5" name="Shape 7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38505"/>
            <a:ext cx="12191695" cy="6029554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123798"/>
            <a:ext cx="7210044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1754" y="1677010"/>
            <a:ext cx="6810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1064" r="-1064"/>
          <a:stretch>
            <a:fillRect/>
          </a:stretch>
        </p:blipFill>
        <p:spPr>
          <a:xfrm>
            <a:off x="771754" y="1367028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6307" y="1352398"/>
            <a:ext cx="295899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Codebase Scale &amp; Documentation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1754" y="1828800"/>
            <a:ext cx="2180844" cy="1705356"/>
          </a:xfrm>
          <a:prstGeom prst="roundRect">
            <a:avLst>
              <a:gd name="adj" fmla="val 179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45997" y="2276856"/>
            <a:ext cx="103235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5,000+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492301" y="2752344"/>
            <a:ext cx="73700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Total LOC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84148" y="2991002"/>
            <a:ext cx="13496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Core: 3,500 / Test: 1,200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87929" y="1828800"/>
            <a:ext cx="2180844" cy="1705356"/>
          </a:xfrm>
          <a:prstGeom prst="roundRect">
            <a:avLst>
              <a:gd name="adj" fmla="val 179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89858" y="2276856"/>
            <a:ext cx="57881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15+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828593" y="2752344"/>
            <a:ext cx="70317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 Pages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558845" y="2991002"/>
            <a:ext cx="1236269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/ Tutorials / Cases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05018" y="1828800"/>
            <a:ext cx="2180844" cy="1705356"/>
          </a:xfrm>
          <a:prstGeom prst="roundRect">
            <a:avLst>
              <a:gd name="adj" fmla="val 179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7026" y="227685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8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014009" y="2752344"/>
            <a:ext cx="96377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990234" y="2991002"/>
            <a:ext cx="10094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Highly Decoupled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16545" y="1123798"/>
            <a:ext cx="3610051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16798" y="1677010"/>
            <a:ext cx="320954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rcRect l="-760" r="-760"/>
          <a:stretch>
            <a:fillRect/>
          </a:stretch>
        </p:blipFill>
        <p:spPr>
          <a:xfrm>
            <a:off x="8216798" y="1367028"/>
            <a:ext cx="152705" cy="17190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464601" y="1352398"/>
            <a:ext cx="196138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Test Quality Overview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rcRect l="-132" r="-132"/>
          <a:stretch>
            <a:fillRect/>
          </a:stretch>
        </p:blipFill>
        <p:spPr>
          <a:xfrm>
            <a:off x="8216798" y="1828800"/>
            <a:ext cx="3209544" cy="170535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71500" y="3972154"/>
            <a:ext cx="7210044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1754" y="4525366"/>
            <a:ext cx="6810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1754" y="4214470"/>
            <a:ext cx="171907" cy="17190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37844" y="4200754"/>
            <a:ext cx="33101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 Performance (By Area Size)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71754" y="4817974"/>
            <a:ext cx="11338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Small (&lt; 10 km²)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628900" y="4832604"/>
            <a:ext cx="4238244" cy="114300"/>
          </a:xfrm>
          <a:prstGeom prst="roundRect">
            <a:avLst>
              <a:gd name="adj" fmla="val 400000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628900" y="4832604"/>
            <a:ext cx="219456" cy="114300"/>
          </a:xfrm>
          <a:prstGeom prst="roundRect">
            <a:avLst>
              <a:gd name="adj" fmla="val 400000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174382" y="4817974"/>
            <a:ext cx="4096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BB7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&lt; 0.1s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71754" y="5385816"/>
            <a:ext cx="14849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Medium (10-100 km²)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628900" y="5400446"/>
            <a:ext cx="4238244" cy="114300"/>
          </a:xfrm>
          <a:prstGeom prst="roundRect">
            <a:avLst>
              <a:gd name="adj" fmla="val 400000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628900" y="5400446"/>
            <a:ext cx="1276502" cy="114300"/>
          </a:xfrm>
          <a:prstGeom prst="roundRect">
            <a:avLst>
              <a:gd name="adj" fmla="val 400000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174382" y="5385816"/>
            <a:ext cx="4096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299E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&lt; 1.0s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771754" y="5954573"/>
            <a:ext cx="123626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Large (&gt; 100 km²)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2628900" y="5969203"/>
            <a:ext cx="4238244" cy="114300"/>
          </a:xfrm>
          <a:prstGeom prst="roundRect">
            <a:avLst>
              <a:gd name="adj" fmla="val 400000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628900" y="5969203"/>
            <a:ext cx="3600907" cy="114300"/>
          </a:xfrm>
          <a:prstGeom prst="roundRect">
            <a:avLst>
              <a:gd name="adj" fmla="val 400000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174382" y="5954573"/>
            <a:ext cx="4096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D893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&lt; 5.0s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8016545" y="3972154"/>
            <a:ext cx="3610051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8216798" y="4525366"/>
            <a:ext cx="320954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16798" y="4214470"/>
            <a:ext cx="171907" cy="171907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483803" y="4200754"/>
            <a:ext cx="191566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Value Validation</a:t>
            </a:r>
            <a:endParaRPr lang="en-US" sz="13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>
            <a:fillRect/>
          </a:stretch>
        </p:blipFill>
        <p:spPr>
          <a:xfrm>
            <a:off x="8216798" y="4883810"/>
            <a:ext cx="133502" cy="15270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8445398" y="4855464"/>
            <a:ext cx="1901952" cy="381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Easy to Start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Complex sampling in just 10 lines</a:t>
            </a:r>
            <a:endParaRPr lang="en-US" sz="10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16798" y="5371186"/>
            <a:ext cx="152705" cy="15270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464601" y="5342839"/>
            <a:ext cx="2067458" cy="381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100% Reproducible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Seed mechanism ensures consistency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16798" y="5858561"/>
            <a:ext cx="152705" cy="15270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8464601" y="5830214"/>
            <a:ext cx="1684325" cy="381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User Friendly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&gt;40% comment rate, full docs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15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44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71500" y="237744"/>
            <a:ext cx="969721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Project Achievements: Quantification &amp; Quality</a:t>
            </a:r>
            <a:endParaRPr lang="en-US" sz="2500" dirty="0"/>
          </a:p>
        </p:txBody>
      </p:sp>
      <p:sp>
        <p:nvSpPr>
          <p:cNvPr id="56" name="Text 46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57" name="Shape 47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1500" y="1561795"/>
            <a:ext cx="3562502" cy="45720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561795"/>
            <a:ext cx="3562502" cy="38405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" y="1600200"/>
            <a:ext cx="3543300" cy="886054"/>
          </a:xfrm>
          <a:prstGeom prst="rect">
            <a:avLst/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alphaModFix amt="20000"/>
          </a:blip>
          <a:srcRect/>
          <a:stretch>
            <a:fillRect/>
          </a:stretch>
        </p:blipFill>
        <p:spPr>
          <a:xfrm>
            <a:off x="3279953" y="1505102"/>
            <a:ext cx="933602" cy="9336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1754" y="1819656"/>
            <a:ext cx="16669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Short-term · ≤ 3 Months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1754" y="2038198"/>
            <a:ext cx="32772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Features &amp; Ecosystem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0644" y="2480767"/>
            <a:ext cx="3543300" cy="3648456"/>
          </a:xfrm>
          <a:prstGeom prst="rect">
            <a:avLst/>
          </a:prstGeom>
          <a:solidFill>
            <a:srgbClr val="FCFD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4247" r="-4247"/>
          <a:stretch>
            <a:fillRect/>
          </a:stretch>
        </p:blipFill>
        <p:spPr>
          <a:xfrm>
            <a:off x="771754" y="2703881"/>
            <a:ext cx="181051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8700" y="2670962"/>
            <a:ext cx="14100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NEW STRATEGIES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94283" y="2966314"/>
            <a:ext cx="124724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Stratified Sampling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94283" y="3228746"/>
            <a:ext cx="123626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Adaptive Sampling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94283" y="3492094"/>
            <a:ext cx="14849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Poisson Disk Sampling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l="-3425" r="-3425"/>
          <a:stretch>
            <a:fillRect/>
          </a:stretch>
        </p:blipFill>
        <p:spPr>
          <a:xfrm>
            <a:off x="771754" y="3978554"/>
            <a:ext cx="142646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0295" y="3944722"/>
            <a:ext cx="213969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 &amp; RELEASE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94283" y="4240073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GPU Acceleration (CUDA)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94283" y="4503420"/>
            <a:ext cx="195041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PyPI / Conda Package Release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94283" y="4765853"/>
            <a:ext cx="202905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Docker Images &amp; Binder Demo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317797" y="1561795"/>
            <a:ext cx="3562502" cy="45720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17797" y="1561795"/>
            <a:ext cx="3562502" cy="38405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27855" y="1600200"/>
            <a:ext cx="3543300" cy="886054"/>
          </a:xfrm>
          <a:prstGeom prst="rect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>
            <a:fillRect/>
          </a:stretch>
        </p:blipFill>
        <p:spPr>
          <a:xfrm>
            <a:off x="7026250" y="1505102"/>
            <a:ext cx="933602" cy="9336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518050" y="1819656"/>
            <a:ext cx="165506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Mid-term · 6-12 Months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518050" y="2038198"/>
            <a:ext cx="32772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Platform &amp; Integration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327855" y="2480767"/>
            <a:ext cx="3543300" cy="3648456"/>
          </a:xfrm>
          <a:prstGeom prst="rect">
            <a:avLst/>
          </a:prstGeom>
          <a:solidFill>
            <a:srgbClr val="FCFD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3882" r="-3882"/>
          <a:stretch>
            <a:fillRect/>
          </a:stretch>
        </p:blipFill>
        <p:spPr>
          <a:xfrm>
            <a:off x="4518050" y="2703881"/>
            <a:ext cx="161849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755794" y="2670962"/>
            <a:ext cx="16962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PLATFORM SERVICES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4640580" y="2966314"/>
            <a:ext cx="20976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Web Visualization UI (Streamlit)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640580" y="3228746"/>
            <a:ext cx="125821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REST API Services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640580" y="3492094"/>
            <a:ext cx="1802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 Database Integration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 l="-3425" r="-3425"/>
          <a:stretch>
            <a:fillRect/>
          </a:stretch>
        </p:blipFill>
        <p:spPr>
          <a:xfrm>
            <a:off x="4518050" y="3978554"/>
            <a:ext cx="142646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737506" y="3944722"/>
            <a:ext cx="172455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ADVANCED FEATURES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640580" y="4240073"/>
            <a:ext cx="187086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Multi-objective Optimization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4640580" y="4503420"/>
            <a:ext cx="14401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ML-assisted Sampling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4640580" y="4765853"/>
            <a:ext cx="205191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Mobile Data Collection Support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064094" y="1561795"/>
            <a:ext cx="3562502" cy="45720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064094" y="1561795"/>
            <a:ext cx="3562502" cy="38405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074152" y="1600200"/>
            <a:ext cx="3543300" cy="886054"/>
          </a:xfrm>
          <a:prstGeom prst="rect">
            <a:avLst/>
          </a:prstGeom>
          <a:solidFill>
            <a:srgbClr val="805A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>
            <a:fillRect/>
          </a:stretch>
        </p:blipFill>
        <p:spPr>
          <a:xfrm>
            <a:off x="10772546" y="1505102"/>
            <a:ext cx="933602" cy="9336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264347" y="1819656"/>
            <a:ext cx="142829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Long-term · &gt; 1 Year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8264347" y="2038198"/>
            <a:ext cx="32772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 &amp; Ecosystem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8074152" y="2480767"/>
            <a:ext cx="3543300" cy="3648456"/>
          </a:xfrm>
          <a:prstGeom prst="rect">
            <a:avLst/>
          </a:prstGeom>
          <a:solidFill>
            <a:srgbClr val="FCFD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 l="-7078" r="-7078"/>
          <a:stretch>
            <a:fillRect/>
          </a:stretch>
        </p:blipFill>
        <p:spPr>
          <a:xfrm>
            <a:off x="8264347" y="2703881"/>
            <a:ext cx="114300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454542" y="2670962"/>
            <a:ext cx="18772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ACADEMIC &amp; INDUSTRY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8387791" y="2966314"/>
            <a:ext cx="176845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 Tool for Sampling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8387791" y="3228746"/>
            <a:ext cx="18370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Methodological Publications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8387791" y="3492094"/>
            <a:ext cx="181417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Graduate Course Integration</a:t>
            </a:r>
            <a:endParaRPr lang="en-US" sz="10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9"/>
          <a:srcRect l="-4247" r="-4247"/>
          <a:stretch>
            <a:fillRect/>
          </a:stretch>
        </p:blipFill>
        <p:spPr>
          <a:xfrm>
            <a:off x="8264347" y="3978554"/>
            <a:ext cx="181051" cy="13350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8521294" y="3944722"/>
            <a:ext cx="10479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8387791" y="4240073"/>
            <a:ext cx="217627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AI-driven Real-time Optimization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8387791" y="4503420"/>
            <a:ext cx="192755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Active Developer Community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8387791" y="4765853"/>
            <a:ext cx="225582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Rich Third-party Plugin Ecosystem</a:t>
            </a:r>
            <a:endParaRPr lang="en-US" sz="100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127602" y="2219249"/>
            <a:ext cx="228600" cy="228600"/>
          </a:xfrm>
          <a:prstGeom prst="rect">
            <a:avLst/>
          </a:prstGeom>
        </p:spPr>
      </p:pic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873898" y="2219249"/>
            <a:ext cx="228600" cy="228600"/>
          </a:xfrm>
          <a:prstGeom prst="rect">
            <a:avLst/>
          </a:prstGeom>
        </p:spPr>
      </p:pic>
      <p:sp>
        <p:nvSpPr>
          <p:cNvPr id="58" name="Shape 45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Shape 46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0" name="Text 47"/>
          <p:cNvSpPr txBox="1"/>
          <p:nvPr/>
        </p:nvSpPr>
        <p:spPr>
          <a:xfrm>
            <a:off x="571500" y="237744"/>
            <a:ext cx="969721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Future Roadmap</a:t>
            </a:r>
            <a:endParaRPr lang="en-US" sz="2500" dirty="0"/>
          </a:p>
        </p:txBody>
      </p:sp>
      <p:sp>
        <p:nvSpPr>
          <p:cNvPr id="61" name="Text 48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62" name="Shape 49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123798"/>
            <a:ext cx="3562502" cy="2952598"/>
          </a:xfrm>
          <a:prstGeom prst="roundRect">
            <a:avLst>
              <a:gd name="adj" fmla="val 7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644" y="1133856"/>
            <a:ext cx="3543300" cy="38405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754" y="1324051"/>
            <a:ext cx="457200" cy="457200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05256" y="1457554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1754" y="1923898"/>
            <a:ext cx="375178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Standardization of Scientific Methods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2276856"/>
            <a:ext cx="95098" cy="9509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6851" y="2276856"/>
            <a:ext cx="334396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Transform ad-hoc sampling into standard workflows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2539289"/>
            <a:ext cx="95098" cy="950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6851" y="2539289"/>
            <a:ext cx="216529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Seed-driven 100% reproducibility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2801722"/>
            <a:ext cx="95098" cy="9509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66851" y="2801722"/>
            <a:ext cx="23582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Complete metadata recording system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317797" y="1123798"/>
            <a:ext cx="3562502" cy="2952598"/>
          </a:xfrm>
          <a:prstGeom prst="roundRect">
            <a:avLst>
              <a:gd name="adj" fmla="val 7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327855" y="1133856"/>
            <a:ext cx="3543300" cy="38405"/>
          </a:xfrm>
          <a:prstGeom prst="rect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518050" y="1324051"/>
            <a:ext cx="457200" cy="457200"/>
          </a:xfrm>
          <a:prstGeom prst="ellipse">
            <a:avLst/>
          </a:prstGeom>
          <a:solidFill>
            <a:srgbClr val="F0FF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51553" y="1457554"/>
            <a:ext cx="190195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18050" y="1923898"/>
            <a:ext cx="375178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 &amp; Usability Breakthroughs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18050" y="2276856"/>
            <a:ext cx="95098" cy="9509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613148" y="2276856"/>
            <a:ext cx="295899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 lines of code for complex sampling designs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18050" y="2539289"/>
            <a:ext cx="95098" cy="9509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613148" y="2539289"/>
            <a:ext cx="287944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Second-level response for large-scale regions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18050" y="2801722"/>
            <a:ext cx="95098" cy="9509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613148" y="2801722"/>
            <a:ext cx="290230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Chunked parallel processing &amp; smart caching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8064094" y="1123798"/>
            <a:ext cx="3562502" cy="2952598"/>
          </a:xfrm>
          <a:prstGeom prst="roundRect">
            <a:avLst>
              <a:gd name="adj" fmla="val 7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8074152" y="1133856"/>
            <a:ext cx="3543300" cy="38405"/>
          </a:xfrm>
          <a:prstGeom prst="rect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8264347" y="1324051"/>
            <a:ext cx="457200" cy="4572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rcRect l="-1648" r="-1648"/>
          <a:stretch>
            <a:fillRect/>
          </a:stretch>
        </p:blipFill>
        <p:spPr>
          <a:xfrm>
            <a:off x="8406994" y="1457554"/>
            <a:ext cx="171907" cy="19019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264347" y="1923898"/>
            <a:ext cx="32772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Impact on Open Science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64347" y="2276856"/>
            <a:ext cx="95098" cy="95098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359445" y="2276856"/>
            <a:ext cx="28565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Enhancing transparency of research methods</a:t>
            </a:r>
            <a:endParaRPr lang="en-US" sz="10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64347" y="2539289"/>
            <a:ext cx="95098" cy="95098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359445" y="2539289"/>
            <a:ext cx="225582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Promoting sharing of best practices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64347" y="2801722"/>
            <a:ext cx="95098" cy="9509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359445" y="2801722"/>
            <a:ext cx="256214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Supporting data-driven decision making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571500" y="4315054"/>
            <a:ext cx="6200546" cy="225765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Shape 24"/>
          <p:cNvSpPr/>
          <p:nvPr/>
        </p:nvSpPr>
        <p:spPr>
          <a:xfrm>
            <a:off x="571500" y="4315054"/>
            <a:ext cx="62005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7"/>
          <a:srcRect t="-180" b="-180"/>
          <a:stretch>
            <a:fillRect/>
          </a:stretch>
        </p:blipFill>
        <p:spPr>
          <a:xfrm>
            <a:off x="571500" y="4505249"/>
            <a:ext cx="190195" cy="152705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57707" y="4496105"/>
            <a:ext cx="208574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Team &amp; Acknowledgments</a:t>
            </a:r>
            <a:endParaRPr lang="en-US" sz="1200" dirty="0"/>
          </a:p>
        </p:txBody>
      </p:sp>
      <p:sp>
        <p:nvSpPr>
          <p:cNvPr id="41" name="Shape 26"/>
          <p:cNvSpPr/>
          <p:nvPr/>
        </p:nvSpPr>
        <p:spPr>
          <a:xfrm>
            <a:off x="571500" y="4839005"/>
            <a:ext cx="3029407" cy="571500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14146" y="4934102"/>
            <a:ext cx="381305" cy="381305"/>
          </a:xfrm>
          <a:prstGeom prst="ellipse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8"/>
          <p:cNvSpPr txBox="1"/>
          <p:nvPr/>
        </p:nvSpPr>
        <p:spPr>
          <a:xfrm>
            <a:off x="819302" y="5024628"/>
            <a:ext cx="2478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JG</a:t>
            </a:r>
            <a:endParaRPr lang="en-US" sz="1000" dirty="0"/>
          </a:p>
        </p:txBody>
      </p:sp>
      <p:sp>
        <p:nvSpPr>
          <p:cNvPr id="44" name="Text 29"/>
          <p:cNvSpPr txBox="1"/>
          <p:nvPr/>
        </p:nvSpPr>
        <p:spPr>
          <a:xfrm>
            <a:off x="1209751" y="4967021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Jiale Guo</a:t>
            </a:r>
            <a:endParaRPr lang="en-US" sz="1000" dirty="0"/>
          </a:p>
        </p:txBody>
      </p:sp>
      <p:sp>
        <p:nvSpPr>
          <p:cNvPr id="45" name="Text 30"/>
          <p:cNvSpPr txBox="1"/>
          <p:nvPr/>
        </p:nvSpPr>
        <p:spPr>
          <a:xfrm>
            <a:off x="1209751" y="5158130"/>
            <a:ext cx="219913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Architecture / Algorithms / Performance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3743554" y="4839005"/>
            <a:ext cx="3029407" cy="571500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2"/>
          <p:cNvSpPr/>
          <p:nvPr/>
        </p:nvSpPr>
        <p:spPr>
          <a:xfrm>
            <a:off x="3886200" y="4934102"/>
            <a:ext cx="381305" cy="381305"/>
          </a:xfrm>
          <a:prstGeom prst="ellipse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3969410" y="5024628"/>
            <a:ext cx="29535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MT</a:t>
            </a:r>
            <a:endParaRPr lang="en-US" sz="1000" dirty="0"/>
          </a:p>
        </p:txBody>
      </p:sp>
      <p:sp>
        <p:nvSpPr>
          <p:cNvPr id="49" name="Text 34"/>
          <p:cNvSpPr txBox="1"/>
          <p:nvPr/>
        </p:nvSpPr>
        <p:spPr>
          <a:xfrm>
            <a:off x="4381805" y="4967021"/>
            <a:ext cx="10323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Mingfeng Tang</a:t>
            </a:r>
            <a:endParaRPr lang="en-US" sz="1000" dirty="0"/>
          </a:p>
        </p:txBody>
      </p:sp>
      <p:sp>
        <p:nvSpPr>
          <p:cNvPr id="50" name="Text 35"/>
          <p:cNvSpPr txBox="1"/>
          <p:nvPr/>
        </p:nvSpPr>
        <p:spPr>
          <a:xfrm>
            <a:off x="4381805" y="5158130"/>
            <a:ext cx="133776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Metadata / Visualization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571500" y="5553151"/>
            <a:ext cx="2000707" cy="286207"/>
          </a:xfrm>
          <a:prstGeom prst="roundRect">
            <a:avLst>
              <a:gd name="adj" fmla="val 159745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685800" y="5619902"/>
            <a:ext cx="210860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Polimi Geoinformatics Engineering</a:t>
            </a:r>
            <a:endParaRPr lang="en-US" sz="900" dirty="0"/>
          </a:p>
        </p:txBody>
      </p:sp>
      <p:sp>
        <p:nvSpPr>
          <p:cNvPr id="53" name="Shape 38"/>
          <p:cNvSpPr/>
          <p:nvPr/>
        </p:nvSpPr>
        <p:spPr>
          <a:xfrm>
            <a:off x="2757830" y="5553151"/>
            <a:ext cx="1772107" cy="286207"/>
          </a:xfrm>
          <a:prstGeom prst="roundRect">
            <a:avLst>
              <a:gd name="adj" fmla="val 159745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9"/>
          <p:cNvSpPr txBox="1"/>
          <p:nvPr/>
        </p:nvSpPr>
        <p:spPr>
          <a:xfrm>
            <a:off x="2872130" y="5619902"/>
            <a:ext cx="18370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Python Geospatial Community</a:t>
            </a:r>
            <a:endParaRPr lang="en-US" sz="900" dirty="0"/>
          </a:p>
        </p:txBody>
      </p:sp>
      <p:sp>
        <p:nvSpPr>
          <p:cNvPr id="55" name="Shape 40"/>
          <p:cNvSpPr/>
          <p:nvPr/>
        </p:nvSpPr>
        <p:spPr>
          <a:xfrm>
            <a:off x="4711903" y="5553151"/>
            <a:ext cx="923544" cy="286207"/>
          </a:xfrm>
          <a:prstGeom prst="roundRect">
            <a:avLst>
              <a:gd name="adj" fmla="val 159745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4826203" y="5619902"/>
            <a:ext cx="7717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OSMnx Team</a:t>
            </a:r>
            <a:endParaRPr lang="en-US" sz="9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8"/>
          <a:srcRect t="-5067" b="-5067"/>
          <a:stretch>
            <a:fillRect/>
          </a:stretch>
        </p:blipFill>
        <p:spPr>
          <a:xfrm>
            <a:off x="10134295" y="5286146"/>
            <a:ext cx="1676095" cy="1476756"/>
          </a:xfrm>
          <a:prstGeom prst="rect">
            <a:avLst/>
          </a:prstGeom>
        </p:spPr>
      </p:pic>
      <p:sp>
        <p:nvSpPr>
          <p:cNvPr id="72" name="Text 52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17</a:t>
            </a:r>
            <a:endParaRPr lang="en-US" sz="1200" dirty="0"/>
          </a:p>
        </p:txBody>
      </p:sp>
      <p:sp>
        <p:nvSpPr>
          <p:cNvPr id="73" name="Shape 5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Shape 54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5" name="Text 55"/>
          <p:cNvSpPr txBox="1"/>
          <p:nvPr/>
        </p:nvSpPr>
        <p:spPr>
          <a:xfrm>
            <a:off x="571500" y="237744"/>
            <a:ext cx="969721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Summary &amp; Acknowledgments</a:t>
            </a:r>
            <a:endParaRPr lang="en-US" sz="2500" dirty="0"/>
          </a:p>
        </p:txBody>
      </p:sp>
      <p:sp>
        <p:nvSpPr>
          <p:cNvPr id="76" name="Text 56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77" name="Shape 57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13166</Words>
  <Application>WPS 表格</Application>
  <PresentationFormat>On-screen Show (16:9)</PresentationFormat>
  <Paragraphs>940</Paragraphs>
  <Slides>16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Times New Roman</vt:lpstr>
      <vt:lpstr>Times New Roman</vt:lpstr>
      <vt:lpstr>Courier New</vt:lpstr>
      <vt:lpstr>Courier New</vt:lpstr>
      <vt:lpstr>Courier New</vt:lpstr>
      <vt:lpstr>ui-monospace</vt:lpstr>
      <vt:lpstr>苹方-简</vt:lpstr>
      <vt:lpstr>ui-monospace</vt:lpstr>
      <vt:lpstr>ui-monospace</vt:lpstr>
      <vt:lpstr>JetBrains Mono</vt:lpstr>
      <vt:lpstr>JetBrains Mono</vt:lpstr>
      <vt:lpstr>JetBrains Mono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bruce</cp:lastModifiedBy>
  <cp:revision>30</cp:revision>
  <dcterms:created xsi:type="dcterms:W3CDTF">2026-01-27T16:02:57Z</dcterms:created>
  <dcterms:modified xsi:type="dcterms:W3CDTF">2026-01-27T16:02:57Z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B35FD7BF06F7AC2E2DD178698DAAF4B1_42</vt:lpwstr>
  </property>
  <property fmtid="{D5CDD505-2E9C-101B-9397-08002B2CF9AE}" pid="3" name="KSOProductBuildVer">
    <vt:lpwstr>2052-12.1.24709.24709</vt:lpwstr>
  </property>
</Properties>
</file>