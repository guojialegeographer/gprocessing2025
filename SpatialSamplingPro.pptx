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png"/><Relationship Id="rId8" Type="http://schemas.openxmlformats.org/officeDocument/2006/relationships/image" Target="../media/image77.png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9.png"/><Relationship Id="rId1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571500"/>
            <a:ext cx="476402" cy="476402"/>
          </a:xfrm>
          <a:prstGeom prst="roundRect">
            <a:avLst>
              <a:gd name="adj" fmla="val 15355"/>
            </a:avLst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2221" y="666598"/>
            <a:ext cx="3813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80744" y="638251"/>
            <a:ext cx="247162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Politecnico di Milano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305" y="4953305"/>
            <a:ext cx="3810305" cy="1904695"/>
          </a:xfrm>
          <a:prstGeom prst="roundRect">
            <a:avLst>
              <a:gd name="adj" fmla="val 48008"/>
            </a:avLst>
          </a:prstGeom>
          <a:solidFill>
            <a:srgbClr val="F1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10598" y="5667451"/>
            <a:ext cx="2381098" cy="1190549"/>
          </a:xfrm>
          <a:prstGeom prst="roundRect">
            <a:avLst>
              <a:gd name="adj" fmla="val 76805"/>
            </a:avLst>
          </a:prstGeom>
          <a:solidFill>
            <a:srgbClr val="E1EA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5705" y="3291840"/>
            <a:ext cx="9601200" cy="1920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0607" y="1529791"/>
            <a:ext cx="9792310" cy="7342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 项目汇报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200607" y="2451506"/>
            <a:ext cx="979231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标准化空间采样框架的设计与实现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21378" y="3880714"/>
            <a:ext cx="351038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33333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Jiale Guo, Mingfeng Tang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588895" y="4422140"/>
            <a:ext cx="3446145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 Geoinformatics Engineering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4862" y="4450258"/>
            <a:ext cx="124358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|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44387" y="4451528"/>
            <a:ext cx="3049524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Course: Geospatial Processing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90795" y="5071262"/>
            <a:ext cx="26417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Date: 2025-01-26 Version: 0.1.0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71500" y="381305"/>
            <a:ext cx="9725558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目录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9983419" y="576072"/>
            <a:ext cx="195041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1056234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8" name="Shape 6"/>
          <p:cNvSpPr/>
          <p:nvPr/>
        </p:nvSpPr>
        <p:spPr>
          <a:xfrm>
            <a:off x="761695" y="1056234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0354" y="1256487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71854" y="1304036"/>
            <a:ext cx="1728216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1695" y="2037385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12" name="Shape 10"/>
          <p:cNvSpPr/>
          <p:nvPr/>
        </p:nvSpPr>
        <p:spPr>
          <a:xfrm>
            <a:off x="761695" y="2037385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0354" y="2236724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71854" y="2285187"/>
            <a:ext cx="1975104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研究问题与创新点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1695" y="3018536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16" name="Shape 14"/>
          <p:cNvSpPr/>
          <p:nvPr/>
        </p:nvSpPr>
        <p:spPr>
          <a:xfrm>
            <a:off x="761695" y="3018536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0354" y="3217875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71854" y="3265424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1695" y="3999687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20" name="Shape 18"/>
          <p:cNvSpPr/>
          <p:nvPr/>
        </p:nvSpPr>
        <p:spPr>
          <a:xfrm>
            <a:off x="761695" y="3999687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0354" y="419902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571854" y="4246575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技术实现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1695" y="4979924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24" name="Shape 22"/>
          <p:cNvSpPr/>
          <p:nvPr/>
        </p:nvSpPr>
        <p:spPr>
          <a:xfrm>
            <a:off x="761695" y="4979924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0354" y="5180178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571854" y="5227726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功能特性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1695" y="5961075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28" name="Shape 26"/>
          <p:cNvSpPr/>
          <p:nvPr/>
        </p:nvSpPr>
        <p:spPr>
          <a:xfrm>
            <a:off x="761695" y="5961075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0354" y="6161329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571854" y="6208878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应用案例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29400" y="1056234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32" name="Shape 30"/>
          <p:cNvSpPr/>
          <p:nvPr/>
        </p:nvSpPr>
        <p:spPr>
          <a:xfrm>
            <a:off x="6629400" y="1056234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67144" y="1256487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438644" y="1304036"/>
            <a:ext cx="1975104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开发过程与方法论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629400" y="2037385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36" name="Shape 34"/>
          <p:cNvSpPr/>
          <p:nvPr/>
        </p:nvSpPr>
        <p:spPr>
          <a:xfrm>
            <a:off x="6629400" y="2037385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67144" y="2236724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7438644" y="2285187"/>
            <a:ext cx="2221992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技术挑战与解决方案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629400" y="3018536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40" name="Shape 38"/>
          <p:cNvSpPr/>
          <p:nvPr/>
        </p:nvSpPr>
        <p:spPr>
          <a:xfrm>
            <a:off x="6629400" y="3018536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67144" y="3217875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7438644" y="3265424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629400" y="3999687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44" name="Shape 42"/>
          <p:cNvSpPr/>
          <p:nvPr/>
        </p:nvSpPr>
        <p:spPr>
          <a:xfrm>
            <a:off x="6629400" y="3999687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67144" y="4199026"/>
            <a:ext cx="3813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438644" y="4246575"/>
            <a:ext cx="9912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629400" y="4979924"/>
            <a:ext cx="4800600" cy="743407"/>
          </a:xfrm>
          <a:prstGeom prst="roundRect">
            <a:avLst>
              <a:gd name="adj" fmla="val 12616"/>
            </a:avLst>
          </a:prstGeom>
          <a:solidFill>
            <a:srgbClr val="F8FAFC"/>
          </a:solidFill>
        </p:spPr>
      </p:sp>
      <p:sp>
        <p:nvSpPr>
          <p:cNvPr id="48" name="Shape 46"/>
          <p:cNvSpPr/>
          <p:nvPr/>
        </p:nvSpPr>
        <p:spPr>
          <a:xfrm>
            <a:off x="6629400" y="4979924"/>
            <a:ext cx="47549" cy="7434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67144" y="5180178"/>
            <a:ext cx="37216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7CA5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7438644" y="5227726"/>
            <a:ext cx="123444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总结与致谢</a:t>
            </a:r>
            <a:endParaRPr lang="en-US" sz="1800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 t="-10" b="-10"/>
          <a:stretch>
            <a:fillRect/>
          </a:stretch>
        </p:blipFill>
        <p:spPr>
          <a:xfrm>
            <a:off x="9810598" y="3961282"/>
            <a:ext cx="1714500" cy="1524305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研究背景：空间采样的重要性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390802"/>
            <a:ext cx="5286146" cy="5248656"/>
          </a:xfrm>
          <a:prstGeom prst="roundRect">
            <a:avLst>
              <a:gd name="adj" fmla="val 379"/>
            </a:avLst>
          </a:prstGeom>
          <a:solidFill>
            <a:srgbClr val="F8FAFC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9080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88640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772107"/>
            <a:ext cx="246888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多学科核心方法学问题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55300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495398"/>
            <a:ext cx="251642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城市研究 (Urban Studies)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9635" y="2819400"/>
            <a:ext cx="471360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街景图像采集、城市绿地评估、建成环境分析，需保证样本的空间代表性。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7707" y="3590849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76249" y="3534156"/>
            <a:ext cx="372983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环境监测 (Environmental Monitoring)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89635" y="3857625"/>
            <a:ext cx="464883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空气质量监测点布设、噪声污染评估、生物多样性调查，需捕捉空间异质性。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7707" y="4629607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6249" y="4572000"/>
            <a:ext cx="2562149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社会科学 (Social Sciences)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9559" y="4895698"/>
            <a:ext cx="4648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人口调查、住房研究、可达性分析，需考虑人口分布特征。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7707" y="541050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76249" y="5352898"/>
            <a:ext cx="24487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公共卫生 (Public Health)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89559" y="5676595"/>
            <a:ext cx="488198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流行病调查、健康资源评估、疾病传播建模，需快速响应空间分布。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34049" y="1390802"/>
            <a:ext cx="5286146" cy="5248656"/>
          </a:xfrm>
          <a:prstGeom prst="roundRect">
            <a:avLst>
              <a:gd name="adj" fmla="val 379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34049" y="139080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20256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rcRect l="-695253" r="-695253"/>
          <a:stretch>
            <a:fillRect/>
          </a:stretch>
        </p:blipFill>
        <p:spPr>
          <a:xfrm>
            <a:off x="6620256" y="1886407"/>
            <a:ext cx="286207" cy="1920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48195" y="1772107"/>
            <a:ext cx="2221992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当前研究痛点与挑战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620256" y="255300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838798" y="2495398"/>
            <a:ext cx="10287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一致性缺失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714338" y="2819095"/>
            <a:ext cx="4943246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不同研究使用的方法各异，导致结果难以横向比较，缺乏统一标准。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620256" y="3590849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3534156"/>
            <a:ext cx="10287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透明度不足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714490" y="3857625"/>
            <a:ext cx="478218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采样过程往往是"黑盒"操作，缺乏详细的参数记录和元数据，影响科研可信度。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620256" y="4629607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38798" y="4572000"/>
            <a:ext cx="838505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效率低下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714338" y="4895698"/>
            <a:ext cx="4840834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传统手工或脚本方法难以应对大规模区域，重复造轮子现象严重。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902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传统方法局限与技术机遇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390802"/>
            <a:ext cx="5286146" cy="5086807"/>
          </a:xfrm>
          <a:prstGeom prst="roundRect">
            <a:avLst>
              <a:gd name="adj" fmla="val 404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9080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88640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772107"/>
            <a:ext cx="246888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传统工具与方法的局限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55300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49539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可重复性危机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314346" y="2504542"/>
            <a:ext cx="552298" cy="237744"/>
          </a:xfrm>
          <a:prstGeom prst="roundRect">
            <a:avLst>
              <a:gd name="adj" fmla="val 6153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91156" y="2552090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303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随机性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6325" y="2819400"/>
            <a:ext cx="475996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大多数GIS工具缺乏随机种子(Seed)机制，导致同一区域每次采样结果不同，无法满足科研复现要求。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7707" y="3590849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76249" y="3534156"/>
            <a:ext cx="18516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标准化与文档化缺失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885846" y="3542386"/>
            <a:ext cx="418795" cy="237744"/>
          </a:xfrm>
          <a:prstGeom prst="roundRect">
            <a:avLst>
              <a:gd name="adj" fmla="val 6153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62656" y="3589934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303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黑盒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76325" y="3857625"/>
            <a:ext cx="478917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依赖手工操作或专有格式，过程不透明，元数据(Metadata)严重缺失，难以追溯采样决策。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57707" y="4629607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76249" y="4572000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可扩展性受限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314346" y="4580230"/>
            <a:ext cx="685800" cy="237744"/>
          </a:xfrm>
          <a:prstGeom prst="roundRect">
            <a:avLst>
              <a:gd name="adj" fmla="val 61538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91156" y="4628693"/>
            <a:ext cx="6099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303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性能瓶颈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76325" y="4895850"/>
            <a:ext cx="472630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商业软件封闭且昂贵，学术脚本往往"各自为政"，难以处理大规模数据或扩展新策略。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34049" y="1390802"/>
            <a:ext cx="5286146" cy="5086807"/>
          </a:xfrm>
          <a:prstGeom prst="roundRect">
            <a:avLst>
              <a:gd name="adj" fmla="val 404"/>
            </a:avLst>
          </a:prstGeom>
          <a:solidFill>
            <a:srgbClr val="F0F9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34049" y="139080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20256" y="221010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rcRect l="-711921" r="-711921"/>
          <a:stretch>
            <a:fillRect/>
          </a:stretch>
        </p:blipFill>
        <p:spPr>
          <a:xfrm>
            <a:off x="6620256" y="1886407"/>
            <a:ext cx="219456" cy="1920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981444" y="1772107"/>
            <a:ext cx="246888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技术发展带来的新机遇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6620256" y="255300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2495398"/>
            <a:ext cx="2032711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 生态系统成熟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8706917" y="2504542"/>
            <a:ext cx="552298" cy="237744"/>
          </a:xfrm>
          <a:prstGeom prst="roundRect">
            <a:avLst>
              <a:gd name="adj" fmla="val 61538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782812" y="2552090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855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工具链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838798" y="2819095"/>
            <a:ext cx="502920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 (数据标准), OSMnx (路网获取), Shapely (几何运算), NetworkX (图分析) 提供了强大的底层支持。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620256" y="3590849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838798" y="3534156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开放数据运动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8076895" y="3542386"/>
            <a:ext cx="771754" cy="237744"/>
          </a:xfrm>
          <a:prstGeom prst="roundRect">
            <a:avLst>
              <a:gd name="adj" fmla="val 61538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153705" y="3589934"/>
            <a:ext cx="7370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855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Open Data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838950" y="3857625"/>
            <a:ext cx="471424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OpenStreetMap 等全球开放数据降低了研究门槛，使得大规模、跨区域的比较研究成为可能。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620256" y="4629607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838798" y="4572000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科研范式转变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8076895" y="4580230"/>
            <a:ext cx="552298" cy="237744"/>
          </a:xfrm>
          <a:prstGeom prst="roundRect">
            <a:avLst>
              <a:gd name="adj" fmla="val 61538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153705" y="4628693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855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透明度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838950" y="4895850"/>
            <a:ext cx="471360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学术界对方法学透明度和可重复性的要求日益提高，期刊开始要求完整的研究Protocol和开源代码。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0" y="942746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研究问题与目标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152144"/>
            <a:ext cx="11048695" cy="571500"/>
          </a:xfrm>
          <a:prstGeom prst="roundRect">
            <a:avLst>
              <a:gd name="adj" fmla="val 10667"/>
            </a:avLst>
          </a:prstGeom>
          <a:solidFill>
            <a:srgbClr val="E6F7FF"/>
          </a:solidFill>
        </p:spPr>
      </p:sp>
      <p:sp>
        <p:nvSpPr>
          <p:cNvPr id="9" name="Shape 7"/>
          <p:cNvSpPr/>
          <p:nvPr/>
        </p:nvSpPr>
        <p:spPr>
          <a:xfrm>
            <a:off x="571500" y="1152144"/>
            <a:ext cx="57607" cy="571500"/>
          </a:xfrm>
          <a:prstGeom prst="rect">
            <a:avLst/>
          </a:prstGeom>
          <a:solidFill>
            <a:srgbClr val="1E5288"/>
          </a:solidFill>
          <a:ln w="12700">
            <a:solidFill>
              <a:srgbClr val="1E5288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6851" y="1324051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8098" y="1333195"/>
            <a:ext cx="876361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2C3E5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核心问题：如何设计一个标准化、可重复、高性能的空间采样框架，满足城市研究和环境科学的需求？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1500" y="1914754"/>
            <a:ext cx="5333695" cy="4657954"/>
          </a:xfrm>
          <a:prstGeom prst="roundRect">
            <a:avLst>
              <a:gd name="adj" fmla="val 482"/>
            </a:avLst>
          </a:prstGeom>
          <a:solidFill>
            <a:srgbClr val="FFF1F0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" y="1914754"/>
            <a:ext cx="5333695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" y="2628900"/>
            <a:ext cx="4858207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2253082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33856" y="2238451"/>
            <a:ext cx="2301545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现有研究 Gap (Gaps)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71423" y="2895905"/>
            <a:ext cx="105156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33856" y="2857500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缺乏标准化工具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33856" y="3124505"/>
            <a:ext cx="3400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研究者各自编写脚本，方法不统一，难以比较。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71423" y="3499409"/>
            <a:ext cx="105156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33856" y="3461004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可重复性不足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33856" y="3728009"/>
            <a:ext cx="41724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多数 GIS 工具无种子机制，结果不可复现，不符科学标准。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71423" y="4103827"/>
            <a:ext cx="105156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33856" y="4065422"/>
            <a:ext cx="9336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元数据缺失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133856" y="4332427"/>
            <a:ext cx="38578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采样参数记录不全，过程决策不透明，质量评估困难。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71423" y="4707331"/>
            <a:ext cx="105156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33856" y="4668926"/>
            <a:ext cx="7626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性能瓶颈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133856" y="4935931"/>
            <a:ext cx="38578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大规模区域采样效率低，内存占用大，限制研究尺度。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71423" y="5311750"/>
            <a:ext cx="105156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33856" y="5273345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单一策略局限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133856" y="5540350"/>
            <a:ext cx="3400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工具通常仅支持一种方式，缺乏策略对比能力。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86500" y="1914754"/>
            <a:ext cx="5333695" cy="4657954"/>
          </a:xfrm>
          <a:prstGeom prst="roundRect">
            <a:avLst>
              <a:gd name="adj" fmla="val 482"/>
            </a:avLst>
          </a:prstGeom>
          <a:solidFill>
            <a:srgbClr val="F0F9FF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286500" y="1914754"/>
            <a:ext cx="5333695" cy="47549"/>
          </a:xfrm>
          <a:prstGeom prst="rect">
            <a:avLst/>
          </a:prstGeom>
          <a:solidFill>
            <a:srgbClr val="1E5288"/>
          </a:solidFill>
          <a:ln w="12700">
            <a:solidFill>
              <a:srgbClr val="1E5288">
                <a:alpha val="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524244" y="2628900"/>
            <a:ext cx="4858207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24244" y="2253082"/>
            <a:ext cx="209398" cy="20939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848856" y="2238451"/>
            <a:ext cx="2358238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研究目标 (Objectives)</a:t>
            </a:r>
            <a:endParaRPr lang="en-US" sz="16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581851" y="2895905"/>
            <a:ext cx="114300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848856" y="2857500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统一采样架构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6848856" y="3124505"/>
            <a:ext cx="413766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设计支持 Grid、Road Network 等多种策略的可扩展框架。</a:t>
            </a:r>
            <a:endParaRPr lang="en-US" sz="12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581851" y="3499409"/>
            <a:ext cx="114300" cy="13350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848856" y="3461004"/>
            <a:ext cx="14813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实现可重复性机制</a:t>
            </a:r>
            <a:endParaRPr lang="en-US" sz="1300" dirty="0"/>
          </a:p>
        </p:txBody>
      </p:sp>
      <p:sp>
        <p:nvSpPr>
          <p:cNvPr id="42" name="Text 30"/>
          <p:cNvSpPr txBox="1"/>
          <p:nvPr/>
        </p:nvSpPr>
        <p:spPr>
          <a:xfrm>
            <a:off x="6848856" y="3728009"/>
            <a:ext cx="373898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引入随机种子 (Seed) 控制，确保算法结果的确定性。</a:t>
            </a:r>
            <a:endParaRPr lang="en-US" sz="12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581851" y="4103827"/>
            <a:ext cx="114300" cy="13350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6848856" y="4065422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建立元数据标准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6848856" y="4332427"/>
            <a:ext cx="40133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自动生成完整的采样过程文档 (Protocol)，提升透明度。</a:t>
            </a:r>
            <a:endParaRPr lang="en-US" sz="12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581851" y="4707331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848856" y="4668926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优化计算性能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6848856" y="4935931"/>
            <a:ext cx="38578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通过空间分块与并行计算，支持大规模城市区域处理。</a:t>
            </a:r>
            <a:endParaRPr lang="en-US" sz="12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581851" y="5311750"/>
            <a:ext cx="114300" cy="133502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6848856" y="5273345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提供易用接口</a:t>
            </a:r>
            <a:endParaRPr lang="en-US" sz="1300" dirty="0"/>
          </a:p>
        </p:txBody>
      </p:sp>
      <p:sp>
        <p:nvSpPr>
          <p:cNvPr id="51" name="Text 36"/>
          <p:cNvSpPr txBox="1"/>
          <p:nvPr/>
        </p:nvSpPr>
        <p:spPr>
          <a:xfrm>
            <a:off x="6848856" y="5540350"/>
            <a:ext cx="380847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封装简洁的 Python API 与 CLI，降低用户使用门槛。</a:t>
            </a:r>
            <a:endParaRPr lang="en-US" sz="1200" dirty="0"/>
          </a:p>
        </p:txBody>
      </p:sp>
      <p:sp>
        <p:nvSpPr>
          <p:cNvPr id="52" name="Text 37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38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100949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核心创新与设计理念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972972"/>
            <a:ext cx="5286146" cy="5591556"/>
          </a:xfrm>
          <a:prstGeom prst="roundRect">
            <a:avLst>
              <a:gd name="adj" fmla="val 374"/>
            </a:avLst>
          </a:prstGeom>
          <a:solidFill>
            <a:srgbClr val="F8FAFC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972972"/>
            <a:ext cx="5286146" cy="47549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179227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695253" r="-695253"/>
          <a:stretch>
            <a:fillRect/>
          </a:stretch>
        </p:blipFill>
        <p:spPr>
          <a:xfrm>
            <a:off x="857707" y="1468577"/>
            <a:ext cx="286207" cy="192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5646" y="1354277"/>
            <a:ext cx="347746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设计哲学 (Design Philosophy)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7707" y="2135175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76249" y="2077568"/>
            <a:ext cx="3609137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可重复性优先 (Reproducibility First)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76249" y="2401265"/>
            <a:ext cx="39630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通过种子机制保证相同配置产生相同结果，例如：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76249" y="2668270"/>
            <a:ext cx="1505102" cy="209398"/>
          </a:xfrm>
          <a:prstGeom prst="roundRect">
            <a:avLst>
              <a:gd name="adj" fmla="val 79396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33856" y="2687472"/>
            <a:ext cx="14676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338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config(seed=42)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578608" y="2659126"/>
            <a:ext cx="240761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，确保科研实验的可验证性。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7707" y="3194964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76249" y="3138272"/>
            <a:ext cx="316291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标准化文档 (Standardized Docs)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6325" y="3462020"/>
            <a:ext cx="467868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自动生成完整的 YAML/GeoJSON 元数据，包括参数、时间戳和版本号，解决记录缺失问题。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7707" y="4252011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76249" y="4195318"/>
            <a:ext cx="257312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策略可扩展 (Extensibility)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76325" y="4519295"/>
            <a:ext cx="471424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采用抽象基类设计，便于研究者添加自定义采样策略而不破坏现有架构。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7707" y="5309972"/>
            <a:ext cx="75895" cy="75895"/>
          </a:xfrm>
          <a:prstGeom prst="ellipse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76249" y="5252364"/>
            <a:ext cx="291327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坐标系统无关 (CRS Agnostic)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76325" y="5575935"/>
            <a:ext cx="465709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系统自动处理坐标转换，无缝支持经纬度（度）与投影坐标（米）之间的切换。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34049" y="972972"/>
            <a:ext cx="5286146" cy="5591556"/>
          </a:xfrm>
          <a:prstGeom prst="roundRect">
            <a:avLst>
              <a:gd name="adj" fmla="val 374"/>
            </a:avLst>
          </a:prstGeom>
          <a:solidFill>
            <a:srgbClr val="FFF5F5"/>
          </a:solidFill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334049" y="972972"/>
            <a:ext cx="5286146" cy="47549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20256" y="1792275"/>
            <a:ext cx="4714646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rcRect l="-711921" r="-711921"/>
          <a:stretch>
            <a:fillRect/>
          </a:stretch>
        </p:blipFill>
        <p:spPr>
          <a:xfrm>
            <a:off x="6620256" y="1468577"/>
            <a:ext cx="219456" cy="1920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981444" y="1354277"/>
            <a:ext cx="36201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核心创新点 (Core Innovations)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6620256" y="2135175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8798" y="2077568"/>
            <a:ext cx="20574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种子驱动的确定性采样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838950" y="2401570"/>
            <a:ext cx="462153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摒弃传统随机采样的不确定性，实现 100% 的结果复现，满足严格的学术标准。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620256" y="3192221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38798" y="3134614"/>
            <a:ext cx="14401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多策略统一框架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838950" y="3459480"/>
            <a:ext cx="4714875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集成了 Grid Sampling 和 Road Network Sampling，并提供统一的调用接口，灵活适应不同场景。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20256" y="4249268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838798" y="4192575"/>
            <a:ext cx="22631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嵌入式元数据与质量指标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6838950" y="4516120"/>
            <a:ext cx="471424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不仅仅生成点数据，还自动计算覆盖率、密度等质量指标，并嵌入到输出文件中。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620256" y="5306314"/>
            <a:ext cx="75895" cy="75895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838798" y="5249621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智能坐标转换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6838950" y="5573395"/>
            <a:ext cx="4657090" cy="4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解决了传统工具中手动计算度数/米转换的痛点，自动识别 CRS 并进行精确转换。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1340" y="1156792"/>
            <a:ext cx="11048695" cy="875995"/>
          </a:xfrm>
          <a:prstGeom prst="roundRect">
            <a:avLst>
              <a:gd name="adj" fmla="val 9077"/>
            </a:avLst>
          </a:prstGeom>
          <a:solidFill>
            <a:srgbClr val="EBF8FF"/>
          </a:solidFill>
          <a:ln w="25400">
            <a:solidFill>
              <a:srgbClr val="BEE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0938" y="1271092"/>
            <a:ext cx="19202" cy="6473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-1282" r="-1282"/>
          <a:stretch>
            <a:fillRect/>
          </a:stretch>
        </p:blipFill>
        <p:spPr>
          <a:xfrm>
            <a:off x="779882" y="1499692"/>
            <a:ext cx="219456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4649" y="1494206"/>
            <a:ext cx="125821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32786" y="1271092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48178" y="1403680"/>
            <a:ext cx="90708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 API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19247" y="1661541"/>
            <a:ext cx="1167689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Easy-to-use Interface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9642" y="1271092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25618" y="1403680"/>
            <a:ext cx="70317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Tool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51551" y="1661541"/>
            <a:ext cx="85039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Command Line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85584" y="1271092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20254" y="1403680"/>
            <a:ext cx="147401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Jupyter Notebooks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610450" y="1661541"/>
            <a:ext cx="108813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Interactive Analysis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362440" y="1271092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34270" y="1403680"/>
            <a:ext cx="1190549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905594" y="1661541"/>
            <a:ext cx="10543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Tutorials &amp; Guides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9335" y="2170862"/>
            <a:ext cx="152705" cy="15270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61340" y="2203831"/>
            <a:ext cx="11048695" cy="875995"/>
          </a:xfrm>
          <a:prstGeom prst="roundRect">
            <a:avLst>
              <a:gd name="adj" fmla="val 9077"/>
            </a:avLst>
          </a:prstGeom>
          <a:solidFill>
            <a:srgbClr val="BEE3F8"/>
          </a:solidFill>
          <a:ln w="25400">
            <a:solidFill>
              <a:srgbClr val="90CDF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370938" y="2318131"/>
            <a:ext cx="19202" cy="6473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6574" y="2546731"/>
            <a:ext cx="237744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63346" y="2541245"/>
            <a:ext cx="110002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2532786" y="2318131"/>
            <a:ext cx="1666951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734869" y="2450719"/>
            <a:ext cx="1270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2618740" y="2708580"/>
            <a:ext cx="149687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Configuration &amp; Validation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341470" y="2318131"/>
            <a:ext cx="2857500" cy="647395"/>
          </a:xfrm>
          <a:prstGeom prst="roundRect">
            <a:avLst>
              <a:gd name="adj" fmla="val 12463"/>
            </a:avLst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799584" y="2450719"/>
            <a:ext cx="195041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SamplingStrategy (ABC)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5225694" y="2708580"/>
            <a:ext cx="108813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Abstract Base Class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341616" y="2318131"/>
            <a:ext cx="2009851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789672" y="2450719"/>
            <a:ext cx="111099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GridSampling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987182" y="2708580"/>
            <a:ext cx="71414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Regular Grid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9490456" y="2318131"/>
            <a:ext cx="2009851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954971" y="2450719"/>
            <a:ext cx="1076249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RoadNetwork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0145166" y="2708580"/>
            <a:ext cx="70317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Graph-based</a:t>
            </a:r>
            <a:endParaRPr lang="en-US" sz="9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9335" y="3217901"/>
            <a:ext cx="152705" cy="15270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561340" y="3268650"/>
            <a:ext cx="11048695" cy="875995"/>
          </a:xfrm>
          <a:prstGeom prst="roundRect">
            <a:avLst>
              <a:gd name="adj" fmla="val 9077"/>
            </a:avLst>
          </a:prstGeom>
          <a:solidFill>
            <a:srgbClr val="90CDF4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2370938" y="3382950"/>
            <a:ext cx="19202" cy="6473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6671" y="3611550"/>
            <a:ext cx="190195" cy="19019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44804" y="3606063"/>
            <a:ext cx="14849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Support Services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2532786" y="3382950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3226816" y="3516452"/>
            <a:ext cx="74889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3050337" y="3773399"/>
            <a:ext cx="110002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Protocol Generation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809642" y="3382950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5476240" y="3516452"/>
            <a:ext cx="80558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5496357" y="3773399"/>
            <a:ext cx="75986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085584" y="3382950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7648854" y="3516452"/>
            <a:ext cx="100949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7631481" y="3773399"/>
            <a:ext cx="104333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Caching &amp; Parallel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9362440" y="3382950"/>
            <a:ext cx="213329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9922967" y="3516452"/>
            <a:ext cx="10204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10012578" y="3773399"/>
            <a:ext cx="839419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Maps &amp; Charts</a:t>
            </a:r>
            <a:endParaRPr lang="en-US" sz="900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9335" y="4282719"/>
            <a:ext cx="152705" cy="152705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561340" y="4377919"/>
            <a:ext cx="11048695" cy="875995"/>
          </a:xfrm>
          <a:prstGeom prst="roundRect">
            <a:avLst>
              <a:gd name="adj" fmla="val 9077"/>
            </a:avLst>
          </a:prstGeom>
          <a:solidFill>
            <a:srgbClr val="63B3ED"/>
          </a:solidFill>
          <a:ln w="25400">
            <a:solidFill>
              <a:srgbClr val="4299E1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2370938" y="4492219"/>
            <a:ext cx="19202" cy="64739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5"/>
          <a:srcRect l="-1648" r="-1648"/>
          <a:stretch>
            <a:fillRect/>
          </a:stretch>
        </p:blipFill>
        <p:spPr>
          <a:xfrm>
            <a:off x="913384" y="4720819"/>
            <a:ext cx="171907" cy="190195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082548" y="4716247"/>
            <a:ext cx="9866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Data &amp; I/O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2532786" y="4492219"/>
            <a:ext cx="289590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3542284" y="4625721"/>
            <a:ext cx="88056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</a:t>
            </a:r>
            <a:endParaRPr lang="en-US" sz="1200" dirty="0"/>
          </a:p>
        </p:txBody>
      </p:sp>
      <p:sp>
        <p:nvSpPr>
          <p:cNvPr id="61" name="Text 52"/>
          <p:cNvSpPr txBox="1"/>
          <p:nvPr/>
        </p:nvSpPr>
        <p:spPr>
          <a:xfrm>
            <a:off x="3644697" y="4882667"/>
            <a:ext cx="66934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 Data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5568594" y="4492219"/>
            <a:ext cx="289590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6722567" y="4625721"/>
            <a:ext cx="590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6600952" y="4882667"/>
            <a:ext cx="82753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Street Network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8603488" y="4492219"/>
            <a:ext cx="2895905" cy="647395"/>
          </a:xfrm>
          <a:prstGeom prst="roundRect">
            <a:avLst>
              <a:gd name="adj" fmla="val 12463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9722714" y="4625721"/>
            <a:ext cx="6574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Formats</a:t>
            </a:r>
            <a:endParaRPr lang="en-US" sz="1200" dirty="0"/>
          </a:p>
        </p:txBody>
      </p:sp>
      <p:sp>
        <p:nvSpPr>
          <p:cNvPr id="67" name="Text 58"/>
          <p:cNvSpPr txBox="1"/>
          <p:nvPr/>
        </p:nvSpPr>
        <p:spPr>
          <a:xfrm>
            <a:off x="9413646" y="4882667"/>
            <a:ext cx="127924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GeoJSON, YAML, SHP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561340" y="56352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69" name="Shape 60"/>
          <p:cNvSpPr/>
          <p:nvPr/>
        </p:nvSpPr>
        <p:spPr>
          <a:xfrm>
            <a:off x="561340" y="56352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70" name="Image 7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742391" y="5777865"/>
            <a:ext cx="171907" cy="152705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913384" y="5777865"/>
            <a:ext cx="848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模块化设计</a:t>
            </a:r>
            <a:endParaRPr lang="en-US" sz="1200" dirty="0"/>
          </a:p>
        </p:txBody>
      </p:sp>
      <p:sp>
        <p:nvSpPr>
          <p:cNvPr id="72" name="Text 62"/>
          <p:cNvSpPr txBox="1"/>
          <p:nvPr/>
        </p:nvSpPr>
        <p:spPr>
          <a:xfrm>
            <a:off x="742391" y="6054014"/>
            <a:ext cx="216072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清晰的职责分离，便于维护和测试</a:t>
            </a:r>
            <a:endParaRPr lang="en-US" sz="1000" dirty="0"/>
          </a:p>
        </p:txBody>
      </p:sp>
      <p:sp>
        <p:nvSpPr>
          <p:cNvPr id="73" name="Shape 63"/>
          <p:cNvSpPr/>
          <p:nvPr/>
        </p:nvSpPr>
        <p:spPr>
          <a:xfrm>
            <a:off x="3371291" y="56352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74" name="Shape 64"/>
          <p:cNvSpPr/>
          <p:nvPr/>
        </p:nvSpPr>
        <p:spPr>
          <a:xfrm>
            <a:off x="3371291" y="56352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52342" y="5777865"/>
            <a:ext cx="152705" cy="152705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3705047" y="5777865"/>
            <a:ext cx="848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可扩展策略</a:t>
            </a:r>
            <a:endParaRPr lang="en-US" sz="1200" dirty="0"/>
          </a:p>
        </p:txBody>
      </p:sp>
      <p:sp>
        <p:nvSpPr>
          <p:cNvPr id="77" name="Text 66"/>
          <p:cNvSpPr txBox="1"/>
          <p:nvPr/>
        </p:nvSpPr>
        <p:spPr>
          <a:xfrm>
            <a:off x="3552342" y="6054014"/>
            <a:ext cx="257952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基于抽象基类(ABC)，轻松添加新采样算法</a:t>
            </a:r>
            <a:endParaRPr lang="en-US" sz="1000" dirty="0"/>
          </a:p>
        </p:txBody>
      </p:sp>
      <p:sp>
        <p:nvSpPr>
          <p:cNvPr id="78" name="Shape 67"/>
          <p:cNvSpPr/>
          <p:nvPr/>
        </p:nvSpPr>
        <p:spPr>
          <a:xfrm>
            <a:off x="6181242" y="56352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79" name="Shape 68"/>
          <p:cNvSpPr/>
          <p:nvPr/>
        </p:nvSpPr>
        <p:spPr>
          <a:xfrm>
            <a:off x="6181242" y="56352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80" name="Image 9" descr="preencoded.png"/>
          <p:cNvPicPr>
            <a:picLocks noChangeAspect="1"/>
          </p:cNvPicPr>
          <p:nvPr/>
        </p:nvPicPr>
        <p:blipFill>
          <a:blip r:embed="rId8"/>
          <a:srcRect t="-100" b="-100"/>
          <a:stretch>
            <a:fillRect/>
          </a:stretch>
        </p:blipFill>
        <p:spPr>
          <a:xfrm>
            <a:off x="6362294" y="5777865"/>
            <a:ext cx="114300" cy="152705"/>
          </a:xfrm>
          <a:prstGeom prst="rect">
            <a:avLst/>
          </a:prstGeom>
        </p:spPr>
      </p:pic>
      <p:sp>
        <p:nvSpPr>
          <p:cNvPr id="81" name="Text 69"/>
          <p:cNvSpPr txBox="1"/>
          <p:nvPr/>
        </p:nvSpPr>
        <p:spPr>
          <a:xfrm>
            <a:off x="6476594" y="5777865"/>
            <a:ext cx="848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元数据驱动</a:t>
            </a:r>
            <a:endParaRPr lang="en-US" sz="1200" dirty="0"/>
          </a:p>
        </p:txBody>
      </p:sp>
      <p:sp>
        <p:nvSpPr>
          <p:cNvPr id="82" name="Text 70"/>
          <p:cNvSpPr txBox="1"/>
          <p:nvPr/>
        </p:nvSpPr>
        <p:spPr>
          <a:xfrm>
            <a:off x="6362294" y="6054014"/>
            <a:ext cx="24487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全程记录参数配置，确保研究可重复性</a:t>
            </a:r>
            <a:endParaRPr lang="en-US" sz="1000" dirty="0"/>
          </a:p>
        </p:txBody>
      </p:sp>
      <p:sp>
        <p:nvSpPr>
          <p:cNvPr id="83" name="Shape 71"/>
          <p:cNvSpPr/>
          <p:nvPr/>
        </p:nvSpPr>
        <p:spPr>
          <a:xfrm>
            <a:off x="8991194" y="5635219"/>
            <a:ext cx="2619756" cy="905256"/>
          </a:xfrm>
          <a:prstGeom prst="roundRect">
            <a:avLst>
              <a:gd name="adj" fmla="val 4253"/>
            </a:avLst>
          </a:prstGeom>
          <a:solidFill>
            <a:srgbClr val="F0F4F8"/>
          </a:solidFill>
        </p:spPr>
      </p:sp>
      <p:sp>
        <p:nvSpPr>
          <p:cNvPr id="84" name="Shape 72"/>
          <p:cNvSpPr/>
          <p:nvPr/>
        </p:nvSpPr>
        <p:spPr>
          <a:xfrm>
            <a:off x="8991194" y="5635219"/>
            <a:ext cx="38405" cy="90525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85" name="Image 10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72245" y="5777865"/>
            <a:ext cx="152705" cy="152705"/>
          </a:xfrm>
          <a:prstGeom prst="rect">
            <a:avLst/>
          </a:prstGeom>
        </p:spPr>
      </p:pic>
      <p:sp>
        <p:nvSpPr>
          <p:cNvPr id="86" name="Text 73"/>
          <p:cNvSpPr txBox="1"/>
          <p:nvPr/>
        </p:nvSpPr>
        <p:spPr>
          <a:xfrm>
            <a:off x="9324035" y="5777865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性能优化</a:t>
            </a:r>
            <a:endParaRPr lang="en-US" sz="1200" dirty="0"/>
          </a:p>
        </p:txBody>
      </p:sp>
      <p:sp>
        <p:nvSpPr>
          <p:cNvPr id="87" name="Text 74"/>
          <p:cNvSpPr txBox="1"/>
          <p:nvPr/>
        </p:nvSpPr>
        <p:spPr>
          <a:xfrm>
            <a:off x="9172245" y="6054014"/>
            <a:ext cx="24487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内置缓存和并行处理，支持大规模数据</a:t>
            </a:r>
            <a:endParaRPr lang="en-US" sz="1000" dirty="0"/>
          </a:p>
        </p:txBody>
      </p:sp>
      <p:sp>
        <p:nvSpPr>
          <p:cNvPr id="88" name="Text 75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7</a:t>
            </a:r>
            <a:endParaRPr lang="en-US" sz="1200" dirty="0"/>
          </a:p>
        </p:txBody>
      </p:sp>
      <p:sp>
        <p:nvSpPr>
          <p:cNvPr id="90" name="Shape 77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1" name="Text 78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系统架构总览</a:t>
            </a:r>
            <a:endParaRPr lang="en-US" sz="2700" dirty="0"/>
          </a:p>
        </p:txBody>
      </p:sp>
      <p:sp>
        <p:nvSpPr>
          <p:cNvPr id="92" name="Text 79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93" name="Shape 80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文本框 93"/>
          <p:cNvSpPr txBox="1"/>
          <p:nvPr/>
        </p:nvSpPr>
        <p:spPr>
          <a:xfrm flipH="1" flipV="1">
            <a:off x="4446905" y="4561205"/>
            <a:ext cx="5125085" cy="197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95705"/>
            <a:ext cx="2257654" cy="2229307"/>
          </a:xfrm>
          <a:prstGeom prst="roundRect">
            <a:avLst>
              <a:gd name="adj" fmla="val 1052"/>
            </a:avLst>
          </a:prstGeom>
          <a:solidFill>
            <a:srgbClr val="F8FAFC"/>
          </a:solidFill>
        </p:spPr>
      </p:sp>
      <p:sp>
        <p:nvSpPr>
          <p:cNvPr id="5" name="Shape 3"/>
          <p:cNvSpPr/>
          <p:nvPr/>
        </p:nvSpPr>
        <p:spPr>
          <a:xfrm>
            <a:off x="571500" y="1295705"/>
            <a:ext cx="38405" cy="22293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7649" y="1533449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3856" y="1524305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坐标自动转换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7649" y="1867205"/>
            <a:ext cx="1819656" cy="14676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自动处理不同投影坐标系(CRS)下的间距计算。例如将 EPSG:4326 (度) 自动转换为实际的米制间距，无需用户手动计算纬度校正。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97985" y="1295654"/>
            <a:ext cx="2257654" cy="2247595"/>
          </a:xfrm>
          <a:prstGeom prst="roundRect">
            <a:avLst>
              <a:gd name="adj" fmla="val 1034"/>
            </a:avLst>
          </a:prstGeom>
          <a:solidFill>
            <a:srgbClr val="F8FAFC"/>
          </a:solidFill>
        </p:spPr>
      </p:sp>
      <p:sp>
        <p:nvSpPr>
          <p:cNvPr id="10" name="Shape 7"/>
          <p:cNvSpPr/>
          <p:nvPr/>
        </p:nvSpPr>
        <p:spPr>
          <a:xfrm>
            <a:off x="4197985" y="1295654"/>
            <a:ext cx="38405" cy="22475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1648" r="-1648"/>
          <a:stretch>
            <a:fillRect/>
          </a:stretch>
        </p:blipFill>
        <p:spPr>
          <a:xfrm>
            <a:off x="4474134" y="1533398"/>
            <a:ext cx="171907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1139" y="1524254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高效网格生成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74134" y="1867154"/>
            <a:ext cx="1819656" cy="1485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使用 NumPy 进行向量化坐标生成，替代传统循环。利用</a:t>
            </a:r>
            <a:r>
              <a:rPr lang="en-US" sz="1200" dirty="0">
                <a:solidFill>
                  <a:srgbClr val="4A55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boundary.contains()</a:t>
            </a: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快速进行空间过滤，只保留边界内的点。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47710" y="1356716"/>
            <a:ext cx="2257654" cy="1742846"/>
          </a:xfrm>
          <a:prstGeom prst="roundRect">
            <a:avLst>
              <a:gd name="adj" fmla="val 1720"/>
            </a:avLst>
          </a:prstGeom>
          <a:solidFill>
            <a:srgbClr val="F8FAFC"/>
          </a:solidFill>
        </p:spPr>
      </p:sp>
      <p:sp>
        <p:nvSpPr>
          <p:cNvPr id="15" name="Shape 11"/>
          <p:cNvSpPr/>
          <p:nvPr/>
        </p:nvSpPr>
        <p:spPr>
          <a:xfrm>
            <a:off x="8347710" y="1356716"/>
            <a:ext cx="38405" cy="174284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23859" y="1595374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0066" y="1585316"/>
            <a:ext cx="10287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元数据嵌入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23859" y="1928216"/>
            <a:ext cx="1819656" cy="981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生成的 GeoDataFrame 不仅包含几何点，还携带完整的采样配置元数据，确保数据自描述能力。</a:t>
            </a:r>
            <a:endParaRPr lang="en-US" sz="1200" dirty="0"/>
          </a:p>
        </p:txBody>
      </p:sp>
      <p:sp>
        <p:nvSpPr>
          <p:cNvPr id="120" name="Text 115"/>
          <p:cNvSpPr txBox="1"/>
          <p:nvPr/>
        </p:nvSpPr>
        <p:spPr>
          <a:xfrm>
            <a:off x="11734495" y="6467551"/>
            <a:ext cx="152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</a:t>
            </a:r>
            <a:endParaRPr lang="en-US" sz="1200" dirty="0"/>
          </a:p>
        </p:txBody>
      </p:sp>
      <p:sp>
        <p:nvSpPr>
          <p:cNvPr id="121" name="Shape 11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2" name="Shape 117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571500" y="286207"/>
            <a:ext cx="97731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技术实现：</a:t>
            </a:r>
            <a:endParaRPr lang="en-US" sz="2700" dirty="0"/>
          </a:p>
        </p:txBody>
      </p:sp>
      <p:sp>
        <p:nvSpPr>
          <p:cNvPr id="124" name="Text 119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125" name="Shape 120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文本框 125"/>
          <p:cNvSpPr txBox="1"/>
          <p:nvPr/>
        </p:nvSpPr>
        <p:spPr>
          <a:xfrm>
            <a:off x="435610" y="836930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Grid Sampling</a:t>
            </a:r>
            <a:endParaRPr lang="en-US" altLang="en-US" sz="2700" b="1" dirty="0">
              <a:solidFill>
                <a:srgbClr val="1E5288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52120" y="3740785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  <a:sym typeface="+mn-ea"/>
              </a:rPr>
              <a:t>Road Network + 元数据</a:t>
            </a:r>
            <a:endParaRPr lang="en-US" altLang="en-US" sz="2700" b="1" dirty="0">
              <a:solidFill>
                <a:srgbClr val="1E5288"/>
              </a:solidFill>
              <a:latin typeface="Times New Roman" panose="02020503050405090304" pitchFamily="34" charset="0"/>
              <a:ea typeface="Times New Roman" panose="02020503050405090304" pitchFamily="34" charset="-122"/>
              <a:cs typeface="Times New Roman" panose="02020503050405090304" pitchFamily="34" charset="-120"/>
              <a:sym typeface="+mn-ea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571500" y="4247820"/>
            <a:ext cx="2505456" cy="2495398"/>
          </a:xfrm>
          <a:prstGeom prst="roundRect">
            <a:avLst>
              <a:gd name="adj" fmla="val 839"/>
            </a:avLst>
          </a:prstGeom>
          <a:solidFill>
            <a:srgbClr val="F8FAFC"/>
          </a:solidFill>
        </p:spPr>
      </p:sp>
      <p:sp>
        <p:nvSpPr>
          <p:cNvPr id="152" name="Shape 3"/>
          <p:cNvSpPr/>
          <p:nvPr/>
        </p:nvSpPr>
        <p:spPr>
          <a:xfrm>
            <a:off x="571500" y="4247820"/>
            <a:ext cx="38405" cy="2495398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53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7649" y="4485564"/>
            <a:ext cx="237744" cy="190195"/>
          </a:xfrm>
          <a:prstGeom prst="rect">
            <a:avLst/>
          </a:prstGeom>
        </p:spPr>
      </p:pic>
      <p:sp>
        <p:nvSpPr>
          <p:cNvPr id="154" name="Text 4"/>
          <p:cNvSpPr txBox="1"/>
          <p:nvPr/>
        </p:nvSpPr>
        <p:spPr>
          <a:xfrm>
            <a:off x="1181405" y="4476420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路网数据获取</a:t>
            </a:r>
            <a:endParaRPr lang="en-US" sz="1500" dirty="0"/>
          </a:p>
        </p:txBody>
      </p:sp>
      <p:sp>
        <p:nvSpPr>
          <p:cNvPr id="155" name="Text 5"/>
          <p:cNvSpPr txBox="1"/>
          <p:nvPr/>
        </p:nvSpPr>
        <p:spPr>
          <a:xfrm>
            <a:off x="847649" y="4819320"/>
            <a:ext cx="2067458" cy="1733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利用 OSMnx 自动下载指定边界内的路网数据 (Graph)，应用</a:t>
            </a:r>
            <a:r>
              <a:rPr lang="en-US" sz="1200" dirty="0">
                <a:solidFill>
                  <a:srgbClr val="4A55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network_type='drive'</a:t>
            </a: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过滤，内置网络超时与重试机制，并实现本地磁盘缓存以提升性能。</a:t>
            </a:r>
            <a:endParaRPr lang="en-US" sz="1200" dirty="0"/>
          </a:p>
        </p:txBody>
      </p:sp>
      <p:sp>
        <p:nvSpPr>
          <p:cNvPr id="156" name="Shape 6"/>
          <p:cNvSpPr/>
          <p:nvPr/>
        </p:nvSpPr>
        <p:spPr>
          <a:xfrm>
            <a:off x="4206240" y="4278427"/>
            <a:ext cx="2505456" cy="2247595"/>
          </a:xfrm>
          <a:prstGeom prst="roundRect">
            <a:avLst>
              <a:gd name="adj" fmla="val 1034"/>
            </a:avLst>
          </a:prstGeom>
          <a:solidFill>
            <a:srgbClr val="F8FAFC"/>
          </a:solidFill>
        </p:spPr>
      </p:sp>
      <p:sp>
        <p:nvSpPr>
          <p:cNvPr id="157" name="Shape 7"/>
          <p:cNvSpPr/>
          <p:nvPr/>
        </p:nvSpPr>
        <p:spPr>
          <a:xfrm>
            <a:off x="4206240" y="4278427"/>
            <a:ext cx="38405" cy="22475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58" name="Imag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82389" y="4517085"/>
            <a:ext cx="190195" cy="190195"/>
          </a:xfrm>
          <a:prstGeom prst="rect">
            <a:avLst/>
          </a:prstGeom>
        </p:spPr>
      </p:pic>
      <p:sp>
        <p:nvSpPr>
          <p:cNvPr id="159" name="Text 8"/>
          <p:cNvSpPr txBox="1"/>
          <p:nvPr/>
        </p:nvSpPr>
        <p:spPr>
          <a:xfrm>
            <a:off x="4768596" y="4507027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沿路等距布点</a:t>
            </a:r>
            <a:endParaRPr lang="en-US" sz="1500" dirty="0"/>
          </a:p>
        </p:txBody>
      </p:sp>
      <p:sp>
        <p:nvSpPr>
          <p:cNvPr id="160" name="Text 9"/>
          <p:cNvSpPr txBox="1"/>
          <p:nvPr/>
        </p:nvSpPr>
        <p:spPr>
          <a:xfrm>
            <a:off x="4482389" y="4849927"/>
            <a:ext cx="2067458" cy="1485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遍历图的边 (Edges)，自动投影到米制坐标系。基于 Shapely 进行线性插值，在每条道路几何线上按指定</a:t>
            </a:r>
            <a:r>
              <a:rPr lang="en-US" sz="1200" dirty="0">
                <a:solidFill>
                  <a:srgbClr val="4A55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spacing</a:t>
            </a: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生成精确的采样点。</a:t>
            </a:r>
            <a:endParaRPr lang="en-US" sz="1200" dirty="0"/>
          </a:p>
        </p:txBody>
      </p:sp>
      <p:sp>
        <p:nvSpPr>
          <p:cNvPr id="161" name="Shape 10"/>
          <p:cNvSpPr/>
          <p:nvPr/>
        </p:nvSpPr>
        <p:spPr>
          <a:xfrm>
            <a:off x="8356600" y="4335323"/>
            <a:ext cx="2505456" cy="2000707"/>
          </a:xfrm>
          <a:prstGeom prst="roundRect">
            <a:avLst>
              <a:gd name="adj" fmla="val 1306"/>
            </a:avLst>
          </a:prstGeom>
          <a:solidFill>
            <a:srgbClr val="F8FAFC"/>
          </a:solidFill>
        </p:spPr>
      </p:sp>
      <p:sp>
        <p:nvSpPr>
          <p:cNvPr id="162" name="Shape 11"/>
          <p:cNvSpPr/>
          <p:nvPr/>
        </p:nvSpPr>
        <p:spPr>
          <a:xfrm>
            <a:off x="8356600" y="4335323"/>
            <a:ext cx="38405" cy="2000707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pic>
        <p:nvPicPr>
          <p:cNvPr id="163" name="Image 2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32749" y="4573067"/>
            <a:ext cx="142646" cy="190195"/>
          </a:xfrm>
          <a:prstGeom prst="rect">
            <a:avLst/>
          </a:prstGeom>
        </p:spPr>
      </p:pic>
      <p:sp>
        <p:nvSpPr>
          <p:cNvPr id="164" name="Text 12"/>
          <p:cNvSpPr txBox="1"/>
          <p:nvPr/>
        </p:nvSpPr>
        <p:spPr>
          <a:xfrm>
            <a:off x="8871407" y="4563923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结构化元数据</a:t>
            </a:r>
            <a:endParaRPr lang="en-US" sz="1500" dirty="0"/>
          </a:p>
        </p:txBody>
      </p:sp>
      <p:sp>
        <p:nvSpPr>
          <p:cNvPr id="165" name="Text 13"/>
          <p:cNvSpPr txBox="1"/>
          <p:nvPr/>
        </p:nvSpPr>
        <p:spPr>
          <a:xfrm>
            <a:off x="8632749" y="4906823"/>
            <a:ext cx="2067458" cy="12390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使用 Python</a:t>
            </a:r>
            <a:r>
              <a:rPr lang="en-US" sz="1200" dirty="0">
                <a:solidFill>
                  <a:srgbClr val="4A556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dataclass</a:t>
            </a:r>
            <a:r>
              <a:rPr lang="en-US" sz="12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定义标准元数据模型，自动记录策略、参数、时间戳与版本，支持导出为 YAML 协议或嵌入 GeoJSON。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0644" y="1209751"/>
            <a:ext cx="2600554" cy="38405"/>
          </a:xfrm>
          <a:prstGeom prst="rect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866851" y="1505102"/>
            <a:ext cx="190195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1754" y="1943100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采样策略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4283" y="2314346"/>
            <a:ext cx="94091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94283" y="2572207"/>
            <a:ext cx="94091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94283" y="2829154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可扩展架构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1451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595" y="1209751"/>
            <a:ext cx="2600554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81705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3662172" y="1505102"/>
            <a:ext cx="219456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81705" y="1943100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配置管理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704234" y="2314346"/>
            <a:ext cx="105430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704234" y="2572207"/>
            <a:ext cx="8961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CRS 自动支持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704234" y="2829154"/>
            <a:ext cx="107899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 可重复机制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91402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00546" y="1209751"/>
            <a:ext cx="2600554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91656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rcRect l="-1773" r="-1773"/>
          <a:stretch>
            <a:fillRect/>
          </a:stretch>
        </p:blipFill>
        <p:spPr>
          <a:xfrm>
            <a:off x="6515100" y="1505102"/>
            <a:ext cx="133502" cy="17190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91656" y="1943100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元数据管理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514186" y="2314346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自动生成记录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514186" y="2572207"/>
            <a:ext cx="10195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YAML 协议导出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514186" y="2829154"/>
            <a:ext cx="93085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GeoJSON 嵌入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01354" y="1200607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10498" y="1209751"/>
            <a:ext cx="2600554" cy="38405"/>
          </a:xfrm>
          <a:prstGeom prst="rect">
            <a:avLst/>
          </a:prstGeom>
          <a:solidFill>
            <a:srgbClr val="DD6B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201607" y="139994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05849" y="1505102"/>
            <a:ext cx="171907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201607" y="1943100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质量评估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9324137" y="2314346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覆盖率统计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324137" y="2572207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密度计算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9324137" y="2829154"/>
            <a:ext cx="10104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边界一致性验证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71500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80644" y="3991356"/>
            <a:ext cx="2600554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71754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 t="-842" b="-842"/>
          <a:stretch>
            <a:fillRect/>
          </a:stretch>
        </p:blipFill>
        <p:spPr>
          <a:xfrm>
            <a:off x="866851" y="4286707"/>
            <a:ext cx="190195" cy="1719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71754" y="4724705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可视化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894283" y="5095951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空间分布图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94283" y="5352898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覆盖热力图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94283" y="5609844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策略对比图表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381451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390595" y="3991356"/>
            <a:ext cx="2600554" cy="38405"/>
          </a:xfrm>
          <a:prstGeom prst="rect">
            <a:avLst/>
          </a:prstGeom>
          <a:solidFill>
            <a:srgbClr val="3197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581705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85946" y="4286707"/>
            <a:ext cx="171907" cy="171907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3581705" y="4724705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性能优化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3704234" y="5095951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空间分块处理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3704234" y="5352898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并行计算支持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3704234" y="5609844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智能磁盘缓存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191402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6200546" y="3991356"/>
            <a:ext cx="2600554" cy="38405"/>
          </a:xfrm>
          <a:prstGeom prst="rect">
            <a:avLst/>
          </a:prstGeom>
          <a:solidFill>
            <a:srgbClr val="5A6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391656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B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7"/>
          <a:srcRect t="-842" b="-842"/>
          <a:stretch>
            <a:fillRect/>
          </a:stretch>
        </p:blipFill>
        <p:spPr>
          <a:xfrm>
            <a:off x="6486754" y="4286707"/>
            <a:ext cx="190195" cy="171907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391656" y="4724705"/>
            <a:ext cx="230886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CLI工具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6514186" y="5095951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命令行接口</a:t>
            </a:r>
            <a:endParaRPr lang="en-US" sz="1000" dirty="0"/>
          </a:p>
        </p:txBody>
      </p:sp>
      <p:sp>
        <p:nvSpPr>
          <p:cNvPr id="58" name="Text 49"/>
          <p:cNvSpPr txBox="1"/>
          <p:nvPr/>
        </p:nvSpPr>
        <p:spPr>
          <a:xfrm>
            <a:off x="6514186" y="5352898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批处理支持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6514186" y="5609844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配置文件加载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9001354" y="3981298"/>
            <a:ext cx="2619756" cy="2590495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9010498" y="3991356"/>
            <a:ext cx="2600554" cy="38405"/>
          </a:xfrm>
          <a:prstGeom prst="rect">
            <a:avLst/>
          </a:prstGeom>
          <a:solidFill>
            <a:srgbClr val="7180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9201607" y="41815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 l="-760" r="-760"/>
          <a:stretch>
            <a:fillRect/>
          </a:stretch>
        </p:blipFill>
        <p:spPr>
          <a:xfrm>
            <a:off x="9315907" y="4286707"/>
            <a:ext cx="152705" cy="171907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9201607" y="4724705"/>
            <a:ext cx="239755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文档支持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9324137" y="5095951"/>
            <a:ext cx="8668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参考文档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9324137" y="5352898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实战教程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9324137" y="5609844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最佳实践指南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9</a:t>
            </a:r>
            <a:endParaRPr lang="en-US" sz="1200" dirty="0"/>
          </a:p>
        </p:txBody>
      </p:sp>
      <p:sp>
        <p:nvSpPr>
          <p:cNvPr id="69" name="Shape 5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Shape 60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功能特性：核心清单</a:t>
            </a:r>
            <a:endParaRPr lang="en-US" sz="2700" dirty="0"/>
          </a:p>
        </p:txBody>
      </p:sp>
      <p:sp>
        <p:nvSpPr>
          <p:cNvPr id="72" name="Text 62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73" name="Shape 63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00607"/>
            <a:ext cx="3495751" cy="2286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0644" y="1209751"/>
            <a:ext cx="3476549" cy="38405"/>
          </a:xfrm>
          <a:prstGeom prst="rect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302" y="1447495"/>
            <a:ext cx="457200" cy="228600"/>
          </a:xfrm>
          <a:prstGeom prst="roundRect">
            <a:avLst>
              <a:gd name="adj" fmla="val 166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33602" y="1447495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1867205"/>
            <a:ext cx="319125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参数优化器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5548" y="2315261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自动寻找最佳间距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55548" y="2631643"/>
            <a:ext cx="155356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基于目标点数反向计算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55548" y="2948026"/>
            <a:ext cx="159471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支持最小/最大间距约束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55548" y="3263494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二分查找算法优化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9801" y="1200607"/>
            <a:ext cx="3495751" cy="2286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58945" y="1209751"/>
            <a:ext cx="3476549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7603" y="1447495"/>
            <a:ext cx="457200" cy="228600"/>
          </a:xfrm>
          <a:prstGeom prst="roundRect">
            <a:avLst>
              <a:gd name="adj" fmla="val 166667"/>
            </a:avLst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-80" r="-80"/>
          <a:stretch>
            <a:fillRect/>
          </a:stretch>
        </p:blipFill>
        <p:spPr>
          <a:xfrm>
            <a:off x="4682642" y="1447495"/>
            <a:ext cx="286207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97603" y="1867205"/>
            <a:ext cx="319125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策略对比工具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733849" y="2315261"/>
            <a:ext cx="155356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一键对比多种采样策略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733849" y="2631643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自动生成对比图表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733849" y="2948026"/>
            <a:ext cx="13990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多维度统计指标分析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733849" y="3263494"/>
            <a:ext cx="155356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vs Road Network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28102" y="1200607"/>
            <a:ext cx="3495751" cy="2286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37246" y="1209751"/>
            <a:ext cx="3476549" cy="38405"/>
          </a:xfrm>
          <a:prstGeom prst="rect">
            <a:avLst/>
          </a:prstGeom>
          <a:solidFill>
            <a:srgbClr val="DD6B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75904" y="1447495"/>
            <a:ext cx="457200" cy="228600"/>
          </a:xfrm>
          <a:prstGeom prst="roundRect">
            <a:avLst>
              <a:gd name="adj" fmla="val 166667"/>
            </a:avLst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90204" y="144749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75904" y="1867205"/>
            <a:ext cx="3191256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智能错误处理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512150" y="2315261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配置参数自动校验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512150" y="2631643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边界异常智能提示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512150" y="2948026"/>
            <a:ext cx="124541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提供具体修复建议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8512150" y="3263494"/>
            <a:ext cx="13990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友好的异常信息输出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71500" y="3866998"/>
            <a:ext cx="11048695" cy="2095805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rcRect t="-180" b="-180"/>
          <a:stretch>
            <a:fillRect/>
          </a:stretch>
        </p:blipFill>
        <p:spPr>
          <a:xfrm>
            <a:off x="771754" y="4105656"/>
            <a:ext cx="190195" cy="152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37844" y="4067251"/>
            <a:ext cx="1000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参数优化示例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71754" y="4390949"/>
            <a:ext cx="5181905" cy="1371600"/>
          </a:xfrm>
          <a:prstGeom prst="roundRect">
            <a:avLst>
              <a:gd name="adj" fmla="val 2778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14400" y="4552798"/>
            <a:ext cx="200619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自动寻找最佳间距以达到目标点数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4724705"/>
            <a:ext cx="3529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53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89634" y="4724705"/>
            <a:ext cx="2862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ssp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396289" y="4724705"/>
            <a:ext cx="4956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53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809598" y="4724705"/>
            <a:ext cx="905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GridSampling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914400" y="4895698"/>
            <a:ext cx="201168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optimized_points = strategy.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2841041" y="4895698"/>
            <a:ext cx="208026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optimize_spacing_for_target_n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4837176" y="4895698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914400" y="5067605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boundary,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914400" y="5238598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target_n=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533449" y="5238598"/>
            <a:ext cx="2862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740103" y="5238598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809598" y="5238598"/>
            <a:ext cx="8860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目标500个点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914400" y="5410505"/>
            <a:ext cx="905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min_spacing=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1740103" y="5410505"/>
            <a:ext cx="219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1878178" y="5410505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946758" y="5410505"/>
            <a:ext cx="6958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最小20米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914400" y="5581498"/>
            <a:ext cx="905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max_spacing=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1740103" y="5581498"/>
            <a:ext cx="2862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2015338" y="5581498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最大500米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914400" y="5753405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>
            <a:fillRect/>
          </a:stretch>
        </p:blipFill>
        <p:spPr>
          <a:xfrm>
            <a:off x="6238951" y="4105656"/>
            <a:ext cx="190195" cy="152705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6505956" y="4067251"/>
            <a:ext cx="1000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策略对比示例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6238951" y="4390949"/>
            <a:ext cx="5181905" cy="1371600"/>
          </a:xfrm>
          <a:prstGeom prst="roundRect">
            <a:avLst>
              <a:gd name="adj" fmla="val 2778"/>
            </a:avLst>
          </a:prstGeom>
          <a:solidFill>
            <a:srgbClr val="2D37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381598" y="4552798"/>
            <a:ext cx="114208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一键对比多种策略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6381598" y="4724705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7001561" y="4724705"/>
            <a:ext cx="13240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compare_strategies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8239658" y="4724705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6381598" y="4895698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boundary,</a:t>
            </a:r>
            <a:endParaRPr lang="en-US" sz="900" dirty="0"/>
          </a:p>
        </p:txBody>
      </p:sp>
      <p:sp>
        <p:nvSpPr>
          <p:cNvPr id="64" name="Text 57"/>
          <p:cNvSpPr txBox="1"/>
          <p:nvPr/>
        </p:nvSpPr>
        <p:spPr>
          <a:xfrm>
            <a:off x="6381598" y="5067605"/>
            <a:ext cx="9052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strategies={</a:t>
            </a:r>
            <a:endParaRPr lang="en-US" sz="900" dirty="0"/>
          </a:p>
        </p:txBody>
      </p:sp>
      <p:sp>
        <p:nvSpPr>
          <p:cNvPr id="65" name="Text 58"/>
          <p:cNvSpPr txBox="1"/>
          <p:nvPr/>
        </p:nvSpPr>
        <p:spPr>
          <a:xfrm>
            <a:off x="6381598" y="5238598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'Grid 50m'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070141" y="5238598"/>
            <a:ext cx="16669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GridSampling(spacing=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8652967" y="5238598"/>
            <a:ext cx="219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68" name="Text 61"/>
          <p:cNvSpPr txBox="1"/>
          <p:nvPr/>
        </p:nvSpPr>
        <p:spPr>
          <a:xfrm>
            <a:off x="8790127" y="5238598"/>
            <a:ext cx="219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6381598" y="5410505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'Road Network'</a:t>
            </a:r>
            <a:endParaRPr lang="en-US" sz="900" dirty="0"/>
          </a:p>
        </p:txBody>
      </p:sp>
      <p:sp>
        <p:nvSpPr>
          <p:cNvPr id="70" name="Text 63"/>
          <p:cNvSpPr txBox="1"/>
          <p:nvPr/>
        </p:nvSpPr>
        <p:spPr>
          <a:xfrm>
            <a:off x="7345375" y="5410505"/>
            <a:ext cx="2149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RoadNetworkSampling(spacing=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9410090" y="5410505"/>
            <a:ext cx="2862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72" name="Text 65"/>
          <p:cNvSpPr txBox="1"/>
          <p:nvPr/>
        </p:nvSpPr>
        <p:spPr>
          <a:xfrm>
            <a:off x="9616745" y="5410505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73" name="Text 66"/>
          <p:cNvSpPr txBox="1"/>
          <p:nvPr/>
        </p:nvSpPr>
        <p:spPr>
          <a:xfrm>
            <a:off x="6381598" y="5581498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4" name="Text 67"/>
          <p:cNvSpPr txBox="1"/>
          <p:nvPr/>
        </p:nvSpPr>
        <p:spPr>
          <a:xfrm>
            <a:off x="6381598" y="5753405"/>
            <a:ext cx="1527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75" name="Text 68"/>
          <p:cNvSpPr txBox="1"/>
          <p:nvPr/>
        </p:nvSpPr>
        <p:spPr>
          <a:xfrm>
            <a:off x="6381598" y="5924398"/>
            <a:ext cx="629107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6932066" y="5924398"/>
            <a:ext cx="11146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plot_comparison</a:t>
            </a:r>
            <a:endParaRPr lang="en-US" sz="900" dirty="0"/>
          </a:p>
        </p:txBody>
      </p:sp>
      <p:sp>
        <p:nvSpPr>
          <p:cNvPr id="77" name="Text 70"/>
          <p:cNvSpPr txBox="1"/>
          <p:nvPr/>
        </p:nvSpPr>
        <p:spPr>
          <a:xfrm>
            <a:off x="7964424" y="5924398"/>
            <a:ext cx="2194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</p:txBody>
      </p:sp>
      <p:sp>
        <p:nvSpPr>
          <p:cNvPr id="78" name="Text 71"/>
          <p:cNvSpPr txBox="1"/>
          <p:nvPr/>
        </p:nvSpPr>
        <p:spPr>
          <a:xfrm>
            <a:off x="8102498" y="5924398"/>
            <a:ext cx="10195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生成可视化图表</a:t>
            </a:r>
            <a:endParaRPr lang="en-US" sz="900" dirty="0"/>
          </a:p>
        </p:txBody>
      </p:sp>
      <p:sp>
        <p:nvSpPr>
          <p:cNvPr id="79" name="Text 72"/>
          <p:cNvSpPr txBox="1"/>
          <p:nvPr/>
        </p:nvSpPr>
        <p:spPr>
          <a:xfrm>
            <a:off x="11664086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11</a:t>
            </a:r>
            <a:endParaRPr lang="en-US" sz="1200" dirty="0"/>
          </a:p>
        </p:txBody>
      </p:sp>
      <p:sp>
        <p:nvSpPr>
          <p:cNvPr id="80" name="Shape 7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Shape 74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571500" y="286207"/>
            <a:ext cx="9887407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特色功能与示例</a:t>
            </a:r>
            <a:endParaRPr lang="en-US" sz="2700" dirty="0"/>
          </a:p>
        </p:txBody>
      </p:sp>
      <p:sp>
        <p:nvSpPr>
          <p:cNvPr id="83" name="Text 76"/>
          <p:cNvSpPr txBox="1"/>
          <p:nvPr/>
        </p:nvSpPr>
        <p:spPr>
          <a:xfrm>
            <a:off x="10147097" y="442570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4" name="Shape 77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076249"/>
            <a:ext cx="4724705" cy="2190902"/>
          </a:xfrm>
          <a:prstGeom prst="roundRect">
            <a:avLst>
              <a:gd name="adj" fmla="val 1452"/>
            </a:avLst>
          </a:prstGeom>
          <a:solidFill>
            <a:srgbClr val="F8FAFC"/>
          </a:solidFill>
        </p:spPr>
      </p:sp>
      <p:sp>
        <p:nvSpPr>
          <p:cNvPr id="5" name="Shape 3"/>
          <p:cNvSpPr/>
          <p:nvPr/>
        </p:nvSpPr>
        <p:spPr>
          <a:xfrm>
            <a:off x="571500" y="1076249"/>
            <a:ext cx="47549" cy="2190902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" y="1552651"/>
            <a:ext cx="4295851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064" r="-1064"/>
          <a:stretch>
            <a:fillRect/>
          </a:stretch>
        </p:blipFill>
        <p:spPr>
          <a:xfrm>
            <a:off x="809244" y="1261872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3798" y="1248156"/>
            <a:ext cx="22219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案例 A：香港城市绿地评估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695298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研究区域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09244" y="1895551"/>
            <a:ext cx="11795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香港岛 (~25 km²)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004718" y="1695298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研究目标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04718" y="1895551"/>
            <a:ext cx="101041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绿地可达性评估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367382"/>
            <a:ext cx="80558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2566721"/>
            <a:ext cx="55595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1,234 点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2776118"/>
            <a:ext cx="78272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(~49.8 pts/km²)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3004718" y="2367382"/>
            <a:ext cx="80558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004718" y="2566721"/>
            <a:ext cx="4480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892 点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004718" y="2776118"/>
            <a:ext cx="78272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(~36.0 pts/km²)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1500" y="3452774"/>
            <a:ext cx="4724705" cy="2190902"/>
          </a:xfrm>
          <a:prstGeom prst="roundRect">
            <a:avLst>
              <a:gd name="adj" fmla="val 1452"/>
            </a:avLst>
          </a:prstGeom>
          <a:solidFill>
            <a:srgbClr val="F8FAFC"/>
          </a:solidFill>
        </p:spPr>
      </p:sp>
      <p:sp>
        <p:nvSpPr>
          <p:cNvPr id="20" name="Shape 17"/>
          <p:cNvSpPr/>
          <p:nvPr/>
        </p:nvSpPr>
        <p:spPr>
          <a:xfrm>
            <a:off x="571500" y="3452774"/>
            <a:ext cx="47549" cy="2190902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244" y="3929177"/>
            <a:ext cx="4295851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 t="-842" b="-842"/>
          <a:stretch>
            <a:fillRect/>
          </a:stretch>
        </p:blipFill>
        <p:spPr>
          <a:xfrm>
            <a:off x="809244" y="3638398"/>
            <a:ext cx="190195" cy="17190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5451" y="3624682"/>
            <a:ext cx="239755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案例 B：米兰市区大规模测试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09244" y="4071823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研究区域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09244" y="4272077"/>
            <a:ext cx="141732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米兰市区 (~345 km²)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3004718" y="4071823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采样间距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004718" y="4272077"/>
            <a:ext cx="4480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 米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09244" y="4714646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生成点数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809244" y="4914900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35,721 点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3004718" y="4714646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性能表现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004718" y="4934102"/>
            <a:ext cx="657454" cy="209398"/>
          </a:xfrm>
          <a:prstGeom prst="roundRect">
            <a:avLst>
              <a:gd name="adj" fmla="val 79396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062326" y="4972507"/>
            <a:ext cx="64648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耗时 &lt; 1.0s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004718" y="5181905"/>
            <a:ext cx="759866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(~40,133 pts/s)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71500" y="5971946"/>
            <a:ext cx="4724705" cy="647395"/>
          </a:xfrm>
          <a:prstGeom prst="roundRect">
            <a:avLst>
              <a:gd name="adj" fmla="val 12463"/>
            </a:avLst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rcRect l="-1773" r="-1773"/>
          <a:stretch>
            <a:fillRect/>
          </a:stretch>
        </p:blipFill>
        <p:spPr>
          <a:xfrm>
            <a:off x="694944" y="6115507"/>
            <a:ext cx="133502" cy="17190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923544" y="6096305"/>
            <a:ext cx="653430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2A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关键发现：</a:t>
            </a:r>
            <a:r>
              <a:rPr lang="en-US" sz="1000" dirty="0">
                <a:solidFill>
                  <a:srgbClr val="742A2A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Grid采样适合均匀的区域整体评估，而路网采样更贴近街景采集等实际场景。高性能引擎确保了大规模区域的秒级响应。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533949" y="1076249"/>
            <a:ext cx="6086246" cy="5544007"/>
          </a:xfrm>
          <a:prstGeom prst="roundRect">
            <a:avLst>
              <a:gd name="adj" fmla="val 2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7671816" y="1257300"/>
            <a:ext cx="182148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策略性能与特征对比分析</a:t>
            </a:r>
            <a:endParaRPr lang="en-US" sz="12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rcRect l="-1" r="-1"/>
          <a:stretch>
            <a:fillRect/>
          </a:stretch>
        </p:blipFill>
        <p:spPr>
          <a:xfrm>
            <a:off x="5686654" y="1552651"/>
            <a:ext cx="5781751" cy="491490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36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71500" y="237744"/>
            <a:ext cx="97731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应用案例：香港 + 米兰 + 对比</a:t>
            </a:r>
            <a:endParaRPr lang="en-US" sz="2500" dirty="0"/>
          </a:p>
        </p:txBody>
      </p:sp>
      <p:sp>
        <p:nvSpPr>
          <p:cNvPr id="44" name="Text 38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123798"/>
            <a:ext cx="5391302" cy="1904695"/>
          </a:xfrm>
          <a:prstGeom prst="roundRect">
            <a:avLst>
              <a:gd name="adj" fmla="val 19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123798"/>
            <a:ext cx="47549" cy="1886407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1754" y="1367028"/>
            <a:ext cx="171907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37844" y="1352398"/>
            <a:ext cx="257312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敏捷开发流程 (Agile &amp; TDD)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1760220" y="2176272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3331159" y="2176272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4645152" y="2176272"/>
            <a:ext cx="123444" cy="19019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243523" y="1123798"/>
            <a:ext cx="5381244" cy="1904695"/>
          </a:xfrm>
          <a:prstGeom prst="roundRect">
            <a:avLst>
              <a:gd name="adj" fmla="val 19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6243523" y="1123798"/>
            <a:ext cx="47549" cy="1886407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6433718" y="1367028"/>
            <a:ext cx="190195" cy="1719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719926" y="1352398"/>
            <a:ext cx="9336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核心技术栈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6433718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58077" y="1904695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805879" y="1910182"/>
            <a:ext cx="77083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GeoPandas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7545629" y="1828800"/>
            <a:ext cx="467258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空间数据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8128102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8251546" y="1904695"/>
            <a:ext cx="133502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480146" y="1910182"/>
            <a:ext cx="54406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Shapely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9144914" y="1914754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几何运算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9821570" y="1723644"/>
            <a:ext cx="1600200" cy="514807"/>
          </a:xfrm>
          <a:prstGeom prst="roundRect">
            <a:avLst>
              <a:gd name="adj" fmla="val 19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9945929" y="1904695"/>
            <a:ext cx="171907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212019" y="1910182"/>
            <a:ext cx="5239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0839298" y="1914754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路网数据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6433718" y="2333549"/>
            <a:ext cx="1600200" cy="371246"/>
          </a:xfrm>
          <a:prstGeom prst="roundRect">
            <a:avLst>
              <a:gd name="adj" fmla="val 378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558077" y="2443277"/>
            <a:ext cx="171907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825082" y="2447849"/>
            <a:ext cx="6858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NetworkX</a:t>
            </a:r>
            <a:endParaRPr lang="en-US" sz="1000" dirty="0"/>
          </a:p>
        </p:txBody>
      </p:sp>
      <p:sp>
        <p:nvSpPr>
          <p:cNvPr id="30" name="Text 19"/>
          <p:cNvSpPr txBox="1"/>
          <p:nvPr/>
        </p:nvSpPr>
        <p:spPr>
          <a:xfrm>
            <a:off x="7565746" y="2452421"/>
            <a:ext cx="4288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图算法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8128102" y="2333549"/>
            <a:ext cx="1600200" cy="371246"/>
          </a:xfrm>
          <a:prstGeom prst="roundRect">
            <a:avLst>
              <a:gd name="adj" fmla="val 378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rcRect t="-43" b="-43"/>
          <a:stretch>
            <a:fillRect/>
          </a:stretch>
        </p:blipFill>
        <p:spPr>
          <a:xfrm>
            <a:off x="8251546" y="2443277"/>
            <a:ext cx="133502" cy="1527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480146" y="2447849"/>
            <a:ext cx="4288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Pytest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9144914" y="2452421"/>
            <a:ext cx="5431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测试框架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9821570" y="2333549"/>
            <a:ext cx="1600200" cy="371246"/>
          </a:xfrm>
          <a:prstGeom prst="roundRect">
            <a:avLst>
              <a:gd name="adj" fmla="val 378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rcRect l="-33" r="-33"/>
          <a:stretch>
            <a:fillRect/>
          </a:stretch>
        </p:blipFill>
        <p:spPr>
          <a:xfrm>
            <a:off x="9945929" y="2443277"/>
            <a:ext cx="171907" cy="1527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0212019" y="2447849"/>
            <a:ext cx="3813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Click</a:t>
            </a:r>
            <a:endParaRPr lang="en-US" sz="1000" dirty="0"/>
          </a:p>
        </p:txBody>
      </p:sp>
      <p:sp>
        <p:nvSpPr>
          <p:cNvPr id="38" name="Text 25"/>
          <p:cNvSpPr txBox="1"/>
          <p:nvPr/>
        </p:nvSpPr>
        <p:spPr>
          <a:xfrm>
            <a:off x="10884103" y="2452421"/>
            <a:ext cx="4956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CLI工具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571500" y="3314700"/>
            <a:ext cx="38405" cy="256946"/>
          </a:xfrm>
          <a:prstGeom prst="rect">
            <a:avLst/>
          </a:prstGeom>
          <a:solidFill>
            <a:srgbClr val="1E5288"/>
          </a:solidFill>
          <a:ln w="12700">
            <a:solidFill>
              <a:srgbClr val="1E5288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705002" y="3343046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项目开发时间线</a:t>
            </a:r>
            <a:endParaRPr lang="en-US" sz="1300" dirty="0"/>
          </a:p>
        </p:txBody>
      </p:sp>
      <p:sp>
        <p:nvSpPr>
          <p:cNvPr id="41" name="Text 28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Shape 29"/>
          <p:cNvSpPr/>
          <p:nvPr/>
        </p:nvSpPr>
        <p:spPr>
          <a:xfrm>
            <a:off x="761695" y="4143146"/>
            <a:ext cx="10668305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973836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78992" y="2038198"/>
            <a:ext cx="171907" cy="171907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993038" y="2438705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2416759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521001" y="2038198"/>
            <a:ext cx="171907" cy="171907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2250338" y="2438705"/>
            <a:ext cx="7150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测试(TDD)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3859682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>
            <a:fillRect/>
          </a:stretch>
        </p:blipFill>
        <p:spPr>
          <a:xfrm>
            <a:off x="3940150" y="2038198"/>
            <a:ext cx="219456" cy="171907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3878885" y="2438705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实现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5174590" y="1933956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7CA5"/>
            </a:solidFill>
            <a:prstDash val="solid"/>
          </a:ln>
        </p:spPr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278831" y="2038198"/>
            <a:ext cx="171907" cy="171907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5193792" y="2438705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重构</a:t>
            </a:r>
            <a:endParaRPr lang="en-US" sz="1000" dirty="0"/>
          </a:p>
        </p:txBody>
      </p:sp>
      <p:sp>
        <p:nvSpPr>
          <p:cNvPr id="55" name="Shape 38"/>
          <p:cNvSpPr/>
          <p:nvPr/>
        </p:nvSpPr>
        <p:spPr>
          <a:xfrm>
            <a:off x="1857146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99E1"/>
            </a:solidFill>
            <a:prstDash val="solid"/>
          </a:ln>
        </p:spPr>
      </p:sp>
      <p:sp>
        <p:nvSpPr>
          <p:cNvPr id="56" name="Shape 39"/>
          <p:cNvSpPr/>
          <p:nvPr/>
        </p:nvSpPr>
        <p:spPr>
          <a:xfrm>
            <a:off x="666598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7" name="Shape 40"/>
          <p:cNvSpPr/>
          <p:nvPr/>
        </p:nvSpPr>
        <p:spPr>
          <a:xfrm>
            <a:off x="666598" y="4638751"/>
            <a:ext cx="2572207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819302" y="4848149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架构设计</a:t>
            </a:r>
            <a:endParaRPr lang="en-US" sz="1200" dirty="0"/>
          </a:p>
        </p:txBody>
      </p:sp>
      <p:sp>
        <p:nvSpPr>
          <p:cNvPr id="59" name="Shape 42"/>
          <p:cNvSpPr/>
          <p:nvPr/>
        </p:nvSpPr>
        <p:spPr>
          <a:xfrm>
            <a:off x="1592885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3"/>
          <p:cNvSpPr txBox="1"/>
          <p:nvPr/>
        </p:nvSpPr>
        <p:spPr>
          <a:xfrm>
            <a:off x="1687982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1-2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961949" y="5171846"/>
            <a:ext cx="129661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需求分析与接口定义</a:t>
            </a:r>
            <a:endParaRPr lang="en-US" sz="1000" dirty="0"/>
          </a:p>
        </p:txBody>
      </p:sp>
      <p:sp>
        <p:nvSpPr>
          <p:cNvPr id="62" name="Text 45"/>
          <p:cNvSpPr txBox="1"/>
          <p:nvPr/>
        </p:nvSpPr>
        <p:spPr>
          <a:xfrm>
            <a:off x="961949" y="5419649"/>
            <a:ext cx="8769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技术选型验证</a:t>
            </a:r>
            <a:endParaRPr lang="en-US" sz="1000" dirty="0"/>
          </a:p>
        </p:txBody>
      </p:sp>
      <p:sp>
        <p:nvSpPr>
          <p:cNvPr id="63" name="Text 46"/>
          <p:cNvSpPr txBox="1"/>
          <p:nvPr/>
        </p:nvSpPr>
        <p:spPr>
          <a:xfrm>
            <a:off x="961949" y="5667451"/>
            <a:ext cx="203728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SamplingConfig 数据模型设计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4619549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8BB78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3429000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6" name="Shape 49"/>
          <p:cNvSpPr/>
          <p:nvPr/>
        </p:nvSpPr>
        <p:spPr>
          <a:xfrm>
            <a:off x="3429000" y="4638751"/>
            <a:ext cx="2572207" cy="38405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>
                <a:alpha val="0"/>
              </a:srgbClr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3581705" y="4848149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核心实现</a:t>
            </a:r>
            <a:endParaRPr lang="en-US" sz="1200" dirty="0"/>
          </a:p>
        </p:txBody>
      </p:sp>
      <p:sp>
        <p:nvSpPr>
          <p:cNvPr id="68" name="Shape 51"/>
          <p:cNvSpPr/>
          <p:nvPr/>
        </p:nvSpPr>
        <p:spPr>
          <a:xfrm>
            <a:off x="4354373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4450385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3-4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3724351" y="5171846"/>
            <a:ext cx="13039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Grid Sampling 算法</a:t>
            </a:r>
            <a:endParaRPr lang="en-US" sz="1000" dirty="0"/>
          </a:p>
        </p:txBody>
      </p:sp>
      <p:sp>
        <p:nvSpPr>
          <p:cNvPr id="71" name="Text 54"/>
          <p:cNvSpPr txBox="1"/>
          <p:nvPr/>
        </p:nvSpPr>
        <p:spPr>
          <a:xfrm>
            <a:off x="3724351" y="5419649"/>
            <a:ext cx="16066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Road Network 基础集成</a:t>
            </a:r>
            <a:endParaRPr lang="en-US" sz="1000" dirty="0"/>
          </a:p>
        </p:txBody>
      </p:sp>
      <p:sp>
        <p:nvSpPr>
          <p:cNvPr id="72" name="Text 55"/>
          <p:cNvSpPr txBox="1"/>
          <p:nvPr/>
        </p:nvSpPr>
        <p:spPr>
          <a:xfrm>
            <a:off x="3724351" y="5667451"/>
            <a:ext cx="1408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Metadata 元数据系统</a:t>
            </a:r>
            <a:endParaRPr lang="en-US" sz="1000" dirty="0"/>
          </a:p>
        </p:txBody>
      </p:sp>
      <p:sp>
        <p:nvSpPr>
          <p:cNvPr id="73" name="Shape 56"/>
          <p:cNvSpPr/>
          <p:nvPr/>
        </p:nvSpPr>
        <p:spPr>
          <a:xfrm>
            <a:off x="7381951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CC94B"/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6191402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6191402" y="4638751"/>
            <a:ext cx="2572207" cy="38405"/>
          </a:xfrm>
          <a:prstGeom prst="rect">
            <a:avLst/>
          </a:prstGeom>
          <a:solidFill>
            <a:srgbClr val="ECC94B"/>
          </a:solidFill>
          <a:ln w="12700">
            <a:solidFill>
              <a:srgbClr val="ECC94B">
                <a:alpha val="0"/>
              </a:srgbClr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6344107" y="4848149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功能完善</a:t>
            </a:r>
            <a:endParaRPr lang="en-US" sz="1200" dirty="0"/>
          </a:p>
        </p:txBody>
      </p:sp>
      <p:sp>
        <p:nvSpPr>
          <p:cNvPr id="77" name="Shape 60"/>
          <p:cNvSpPr/>
          <p:nvPr/>
        </p:nvSpPr>
        <p:spPr>
          <a:xfrm>
            <a:off x="7116775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1"/>
          <p:cNvSpPr txBox="1"/>
          <p:nvPr/>
        </p:nvSpPr>
        <p:spPr>
          <a:xfrm>
            <a:off x="7211873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5-6</a:t>
            </a:r>
            <a:endParaRPr lang="en-US" sz="1000" dirty="0"/>
          </a:p>
        </p:txBody>
      </p:sp>
      <p:sp>
        <p:nvSpPr>
          <p:cNvPr id="79" name="Text 62"/>
          <p:cNvSpPr txBox="1"/>
          <p:nvPr/>
        </p:nvSpPr>
        <p:spPr>
          <a:xfrm>
            <a:off x="6486754" y="5171846"/>
            <a:ext cx="101041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可视化模块开发</a:t>
            </a:r>
            <a:endParaRPr lang="en-US" sz="1000" dirty="0"/>
          </a:p>
        </p:txBody>
      </p:sp>
      <p:sp>
        <p:nvSpPr>
          <p:cNvPr id="80" name="Text 63"/>
          <p:cNvSpPr txBox="1"/>
          <p:nvPr/>
        </p:nvSpPr>
        <p:spPr>
          <a:xfrm>
            <a:off x="6486754" y="5419649"/>
            <a:ext cx="171175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性能优化 (Cache/Parallel)</a:t>
            </a:r>
            <a:endParaRPr lang="en-US" sz="1000" dirty="0"/>
          </a:p>
        </p:txBody>
      </p:sp>
      <p:sp>
        <p:nvSpPr>
          <p:cNvPr id="81" name="Text 64"/>
          <p:cNvSpPr txBox="1"/>
          <p:nvPr/>
        </p:nvSpPr>
        <p:spPr>
          <a:xfrm>
            <a:off x="6486754" y="5667451"/>
            <a:ext cx="131216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CLI 命令行工具实现</a:t>
            </a:r>
            <a:endParaRPr lang="en-US" sz="1000" dirty="0"/>
          </a:p>
        </p:txBody>
      </p:sp>
      <p:sp>
        <p:nvSpPr>
          <p:cNvPr id="82" name="Shape 65"/>
          <p:cNvSpPr/>
          <p:nvPr/>
        </p:nvSpPr>
        <p:spPr>
          <a:xfrm>
            <a:off x="10144354" y="4257446"/>
            <a:ext cx="190195" cy="1901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6565"/>
            </a:solidFill>
            <a:prstDash val="solid"/>
          </a:ln>
        </p:spPr>
      </p:sp>
      <p:sp>
        <p:nvSpPr>
          <p:cNvPr id="83" name="Shape 66"/>
          <p:cNvSpPr/>
          <p:nvPr/>
        </p:nvSpPr>
        <p:spPr>
          <a:xfrm>
            <a:off x="8953805" y="4638751"/>
            <a:ext cx="2572207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84" name="Shape 67"/>
          <p:cNvSpPr/>
          <p:nvPr/>
        </p:nvSpPr>
        <p:spPr>
          <a:xfrm>
            <a:off x="8953805" y="4638751"/>
            <a:ext cx="2572207" cy="38405"/>
          </a:xfrm>
          <a:prstGeom prst="rect">
            <a:avLst/>
          </a:prstGeom>
          <a:solidFill>
            <a:srgbClr val="F56565"/>
          </a:solidFill>
          <a:ln w="12700">
            <a:solidFill>
              <a:srgbClr val="F56565">
                <a:alpha val="0"/>
              </a:srgbClr>
            </a:solidFill>
            <a:prstDash val="solid"/>
          </a:ln>
        </p:spPr>
      </p:sp>
      <p:sp>
        <p:nvSpPr>
          <p:cNvPr id="85" name="Text 68"/>
          <p:cNvSpPr txBox="1"/>
          <p:nvPr/>
        </p:nvSpPr>
        <p:spPr>
          <a:xfrm>
            <a:off x="9105595" y="4848149"/>
            <a:ext cx="848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测试与文档</a:t>
            </a:r>
            <a:endParaRPr lang="en-US" sz="1200" dirty="0"/>
          </a:p>
        </p:txBody>
      </p:sp>
      <p:sp>
        <p:nvSpPr>
          <p:cNvPr id="86" name="Shape 69"/>
          <p:cNvSpPr/>
          <p:nvPr/>
        </p:nvSpPr>
        <p:spPr>
          <a:xfrm>
            <a:off x="9879178" y="3952951"/>
            <a:ext cx="724205" cy="276149"/>
          </a:xfrm>
          <a:prstGeom prst="roundRect">
            <a:avLst>
              <a:gd name="adj" fmla="val 137017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0"/>
          <p:cNvSpPr txBox="1"/>
          <p:nvPr/>
        </p:nvSpPr>
        <p:spPr>
          <a:xfrm>
            <a:off x="9974275" y="4019702"/>
            <a:ext cx="63550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Week 7-8</a:t>
            </a:r>
            <a:endParaRPr lang="en-US" sz="1000" dirty="0"/>
          </a:p>
        </p:txBody>
      </p:sp>
      <p:sp>
        <p:nvSpPr>
          <p:cNvPr id="88" name="Text 71"/>
          <p:cNvSpPr txBox="1"/>
          <p:nvPr/>
        </p:nvSpPr>
        <p:spPr>
          <a:xfrm>
            <a:off x="9249156" y="5171846"/>
            <a:ext cx="129661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单元测试与集成测试</a:t>
            </a:r>
            <a:endParaRPr lang="en-US" sz="1000" dirty="0"/>
          </a:p>
        </p:txBody>
      </p:sp>
      <p:sp>
        <p:nvSpPr>
          <p:cNvPr id="89" name="Text 72"/>
          <p:cNvSpPr txBox="1"/>
          <p:nvPr/>
        </p:nvSpPr>
        <p:spPr>
          <a:xfrm>
            <a:off x="9249156" y="5419649"/>
            <a:ext cx="8668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文档编写</a:t>
            </a:r>
            <a:endParaRPr lang="en-US" sz="1000" dirty="0"/>
          </a:p>
        </p:txBody>
      </p:sp>
      <p:sp>
        <p:nvSpPr>
          <p:cNvPr id="90" name="Text 73"/>
          <p:cNvSpPr txBox="1"/>
          <p:nvPr/>
        </p:nvSpPr>
        <p:spPr>
          <a:xfrm>
            <a:off x="9249156" y="5667451"/>
            <a:ext cx="191566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应用案例验证 (Case Studies)</a:t>
            </a:r>
            <a:endParaRPr lang="en-US" sz="1000" dirty="0"/>
          </a:p>
        </p:txBody>
      </p:sp>
      <p:sp>
        <p:nvSpPr>
          <p:cNvPr id="91" name="Shape 74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2" name="Shape 75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3" name="Text 76"/>
          <p:cNvSpPr txBox="1"/>
          <p:nvPr/>
        </p:nvSpPr>
        <p:spPr>
          <a:xfrm>
            <a:off x="571500" y="237744"/>
            <a:ext cx="97731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开发过程与方法论</a:t>
            </a:r>
            <a:endParaRPr lang="en-US" sz="2500" dirty="0"/>
          </a:p>
        </p:txBody>
      </p:sp>
      <p:sp>
        <p:nvSpPr>
          <p:cNvPr id="94" name="Text 77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95" name="Shape 78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218895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218895"/>
            <a:ext cx="5410505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" y="1257300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7" name="Shape 5"/>
          <p:cNvSpPr/>
          <p:nvPr/>
        </p:nvSpPr>
        <p:spPr>
          <a:xfrm>
            <a:off x="3047695" y="1257300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754" y="1705356"/>
            <a:ext cx="304495" cy="304495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7707" y="1791310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1754" y="2124151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71754" y="2352751"/>
            <a:ext cx="225308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坐标系统异构性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1754" y="2670962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不同 CRS (如 EPSG:4326/3857) 下的 spacing 单位不一致，导致采样间距计算错误。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48610" y="1257300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38805" y="1738274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1966874"/>
            <a:ext cx="105156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43961" y="1995221"/>
            <a:ext cx="158465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自动单位识别与转换逻辑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2243023"/>
            <a:ext cx="105156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43961" y="2271370"/>
            <a:ext cx="172821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基于纬度的自适应度数计算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38805" y="2614270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38805" y="2614270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343961" y="2710282"/>
            <a:ext cx="1467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crs == "EPSG:4326":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3343961" y="2866644"/>
            <a:ext cx="2392985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meters_to_degrees(spacing, lat)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215177" y="1218895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5177" y="1218895"/>
            <a:ext cx="5410505" cy="38405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24321" y="1257300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26" name="Shape 21"/>
          <p:cNvSpPr/>
          <p:nvPr/>
        </p:nvSpPr>
        <p:spPr>
          <a:xfrm>
            <a:off x="8691372" y="1257300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15430" y="1705356"/>
            <a:ext cx="304495" cy="304495"/>
          </a:xfrm>
          <a:prstGeom prst="ellipse">
            <a:avLst/>
          </a:prstGeom>
          <a:solidFill>
            <a:srgbClr val="FFFA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rcRect l="-837" r="-837"/>
          <a:stretch>
            <a:fillRect/>
          </a:stretch>
        </p:blipFill>
        <p:spPr>
          <a:xfrm>
            <a:off x="6491326" y="1791310"/>
            <a:ext cx="152705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15430" y="2124151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02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415430" y="2352751"/>
            <a:ext cx="225308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路网获取瓶颈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15430" y="2670962"/>
            <a:ext cx="2162556" cy="6007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 API 下载耗时不稳定，大区域图计算 (Graph Traversal) 极其耗时。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692286" y="1257300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882482" y="1738274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1966874"/>
            <a:ext cx="105156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86723" y="1995221"/>
            <a:ext cx="21369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实现磁盘缓存机制 (Disk Cache)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2243023"/>
            <a:ext cx="105156" cy="1143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986723" y="2271370"/>
            <a:ext cx="191566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异步下载 + 超时自动降级策略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8882482" y="2614270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882482" y="2614270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986723" y="2710282"/>
            <a:ext cx="14676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@lru_cache(maxsize=10)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8986723" y="2866644"/>
            <a:ext cx="2521915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download_network(boundary_hash): ...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571500" y="3967582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71500" y="3967582"/>
            <a:ext cx="5410505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80644" y="4005072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45" name="Shape 37"/>
          <p:cNvSpPr/>
          <p:nvPr/>
        </p:nvSpPr>
        <p:spPr>
          <a:xfrm>
            <a:off x="3047695" y="4005072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71754" y="4553712"/>
            <a:ext cx="304495" cy="304495"/>
          </a:xfrm>
          <a:prstGeom prst="ellipse">
            <a:avLst/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707" y="4638751"/>
            <a:ext cx="133502" cy="13350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1754" y="4972507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03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771754" y="5201107"/>
            <a:ext cx="225308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大规模可视化卡顿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771754" y="5519318"/>
            <a:ext cx="329641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35,000+ 采样点的实时渲染和统计图表生成会导致 UI 冻结。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3048610" y="4005072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3238805" y="4486046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4714646"/>
            <a:ext cx="105156" cy="1143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3343961" y="4743907"/>
            <a:ext cx="25200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智能下采样 (Downsampling) 用于预览</a:t>
            </a:r>
            <a:endParaRPr lang="en-US" sz="10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3238805" y="4990795"/>
            <a:ext cx="105156" cy="1143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3343961" y="5020056"/>
            <a:ext cx="144018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分块并行计算统计指标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3238805" y="5362956"/>
            <a:ext cx="2542946" cy="647395"/>
          </a:xfrm>
          <a:prstGeom prst="roundRect">
            <a:avLst>
              <a:gd name="adj" fmla="val 8308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238805" y="5362956"/>
            <a:ext cx="28346" cy="647395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3343961" y="5458054"/>
            <a:ext cx="2324405" cy="29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= np.array_split(points, n_chunks)</a:t>
            </a:r>
            <a:endParaRPr lang="en-US" sz="800" dirty="0"/>
          </a:p>
        </p:txBody>
      </p:sp>
      <p:sp>
        <p:nvSpPr>
          <p:cNvPr id="60" name="Text 49"/>
          <p:cNvSpPr txBox="1"/>
          <p:nvPr/>
        </p:nvSpPr>
        <p:spPr>
          <a:xfrm>
            <a:off x="3343961" y="5772607"/>
            <a:ext cx="228874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executor.map(compute_stats, chunks)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6215177" y="3967582"/>
            <a:ext cx="5410505" cy="2514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6215177" y="3967582"/>
            <a:ext cx="5410505" cy="38405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224321" y="4005072"/>
            <a:ext cx="2476195" cy="2467051"/>
          </a:xfrm>
          <a:prstGeom prst="rect">
            <a:avLst/>
          </a:prstGeom>
          <a:solidFill>
            <a:srgbClr val="FCFDFE"/>
          </a:solidFill>
        </p:spPr>
      </p:sp>
      <p:sp>
        <p:nvSpPr>
          <p:cNvPr id="64" name="Shape 53"/>
          <p:cNvSpPr/>
          <p:nvPr/>
        </p:nvSpPr>
        <p:spPr>
          <a:xfrm>
            <a:off x="8691372" y="4005072"/>
            <a:ext cx="9144" cy="2467051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6415430" y="4553712"/>
            <a:ext cx="304495" cy="304495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6515100" y="4638751"/>
            <a:ext cx="105156" cy="133502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415430" y="4972507"/>
            <a:ext cx="1067105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E53E3E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CHALLENGE 04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6415430" y="5201107"/>
            <a:ext cx="225308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可重复性文档缺失</a:t>
            </a:r>
            <a:endParaRPr lang="en-US" sz="1300" dirty="0"/>
          </a:p>
        </p:txBody>
      </p:sp>
      <p:sp>
        <p:nvSpPr>
          <p:cNvPr id="69" name="Text 57"/>
          <p:cNvSpPr txBox="1"/>
          <p:nvPr/>
        </p:nvSpPr>
        <p:spPr>
          <a:xfrm>
            <a:off x="6415430" y="5519318"/>
            <a:ext cx="329641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如何完整记录复杂的采样过程参数，使其可被他人完全复现？</a:t>
            </a:r>
            <a:endParaRPr lang="en-US" sz="1000" dirty="0"/>
          </a:p>
        </p:txBody>
      </p:sp>
      <p:sp>
        <p:nvSpPr>
          <p:cNvPr id="70" name="Shape 58"/>
          <p:cNvSpPr/>
          <p:nvPr/>
        </p:nvSpPr>
        <p:spPr>
          <a:xfrm>
            <a:off x="8692286" y="4005072"/>
            <a:ext cx="2924251" cy="2467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8882482" y="4465015"/>
            <a:ext cx="76261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38A169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4693615"/>
            <a:ext cx="105156" cy="114300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8986723" y="4721962"/>
            <a:ext cx="231983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设计结构化元数据模型 (Dataclass)</a:t>
            </a:r>
            <a:endParaRPr lang="en-US" sz="1000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2"/>
          <a:srcRect l="-2571" r="-2571"/>
          <a:stretch>
            <a:fillRect/>
          </a:stretch>
        </p:blipFill>
        <p:spPr>
          <a:xfrm>
            <a:off x="8882482" y="4969764"/>
            <a:ext cx="105156" cy="114300"/>
          </a:xfrm>
          <a:prstGeom prst="rect">
            <a:avLst/>
          </a:prstGeom>
        </p:spPr>
      </p:pic>
      <p:sp>
        <p:nvSpPr>
          <p:cNvPr id="75" name="Text 61"/>
          <p:cNvSpPr txBox="1"/>
          <p:nvPr/>
        </p:nvSpPr>
        <p:spPr>
          <a:xfrm>
            <a:off x="8986723" y="4998110"/>
            <a:ext cx="243687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WHO/WHAT/WHEN/WHERE/HOW 全覆盖</a:t>
            </a:r>
            <a:endParaRPr lang="en-US" sz="1000" dirty="0"/>
          </a:p>
        </p:txBody>
      </p:sp>
      <p:sp>
        <p:nvSpPr>
          <p:cNvPr id="76" name="Shape 62"/>
          <p:cNvSpPr/>
          <p:nvPr/>
        </p:nvSpPr>
        <p:spPr>
          <a:xfrm>
            <a:off x="8882482" y="5541264"/>
            <a:ext cx="2542946" cy="485546"/>
          </a:xfrm>
          <a:prstGeom prst="roundRect">
            <a:avLst>
              <a:gd name="adj" fmla="val 14771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8882482" y="5541264"/>
            <a:ext cx="28346" cy="485546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>
                <a:alpha val="0"/>
              </a:srgbClr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8986723" y="5636362"/>
            <a:ext cx="7050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@dataclass</a:t>
            </a:r>
            <a:endParaRPr lang="en-US" sz="800" dirty="0"/>
          </a:p>
        </p:txBody>
      </p:sp>
      <p:sp>
        <p:nvSpPr>
          <p:cNvPr id="79" name="Text 65"/>
          <p:cNvSpPr txBox="1"/>
          <p:nvPr/>
        </p:nvSpPr>
        <p:spPr>
          <a:xfrm>
            <a:off x="8986723" y="5793638"/>
            <a:ext cx="1781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SamplingMetadata: ...</a:t>
            </a:r>
            <a:endParaRPr lang="en-US" sz="800" dirty="0"/>
          </a:p>
        </p:txBody>
      </p:sp>
      <p:sp>
        <p:nvSpPr>
          <p:cNvPr id="80" name="Text 66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14</a:t>
            </a:r>
            <a:endParaRPr lang="en-US" sz="1200" dirty="0"/>
          </a:p>
        </p:txBody>
      </p:sp>
      <p:sp>
        <p:nvSpPr>
          <p:cNvPr id="81" name="Shape 67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Shape 68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3" name="Text 69"/>
          <p:cNvSpPr txBox="1"/>
          <p:nvPr/>
        </p:nvSpPr>
        <p:spPr>
          <a:xfrm>
            <a:off x="571500" y="237744"/>
            <a:ext cx="97731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技术挑战与解决方案</a:t>
            </a:r>
            <a:endParaRPr lang="en-US" sz="2500" dirty="0"/>
          </a:p>
        </p:txBody>
      </p:sp>
      <p:sp>
        <p:nvSpPr>
          <p:cNvPr id="84" name="Text 70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85" name="Shape 7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71500" y="1123798"/>
            <a:ext cx="7210044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1754" y="1677010"/>
            <a:ext cx="6810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1064" r="-1064"/>
          <a:stretch>
            <a:fillRect/>
          </a:stretch>
        </p:blipFill>
        <p:spPr>
          <a:xfrm>
            <a:off x="771754" y="1367028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6307" y="1352398"/>
            <a:ext cx="185166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工程规模与文档完整度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1754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45997" y="2276856"/>
            <a:ext cx="10323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5,000+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486814" y="2752344"/>
            <a:ext cx="74340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总代码行数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84148" y="2991002"/>
            <a:ext cx="13496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Core: 3,500 / Test: 1,200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87929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9858" y="2276856"/>
            <a:ext cx="57881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15+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870655" y="2752344"/>
            <a:ext cx="6099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文档页数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686861" y="2991002"/>
            <a:ext cx="98663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API / 教程 / 案例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05018" y="1828800"/>
            <a:ext cx="2180844" cy="1705356"/>
          </a:xfrm>
          <a:prstGeom prst="roundRect">
            <a:avLst>
              <a:gd name="adj" fmla="val 1797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7026" y="227685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8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186830" y="2752344"/>
            <a:ext cx="6099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核心模块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10935" y="2991002"/>
            <a:ext cx="77175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高度解耦设计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16545" y="1123798"/>
            <a:ext cx="3610051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16798" y="1677010"/>
            <a:ext cx="320954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rcRect l="-760" r="-760"/>
          <a:stretch>
            <a:fillRect/>
          </a:stretch>
        </p:blipFill>
        <p:spPr>
          <a:xfrm>
            <a:off x="8216798" y="1367028"/>
            <a:ext cx="152705" cy="17190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464601" y="1352398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测试质量概览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 l="-132" r="-132"/>
          <a:stretch>
            <a:fillRect/>
          </a:stretch>
        </p:blipFill>
        <p:spPr>
          <a:xfrm>
            <a:off x="8216798" y="1828800"/>
            <a:ext cx="3209544" cy="170535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71500" y="3972154"/>
            <a:ext cx="7210044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1754" y="4525366"/>
            <a:ext cx="68104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1754" y="4214470"/>
            <a:ext cx="171907" cy="17190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37844" y="4200754"/>
            <a:ext cx="27212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采样生成性能表现 (按区域规模)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71754" y="4817974"/>
            <a:ext cx="122438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小区域 (&lt; 10 km²)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247595" y="4832604"/>
            <a:ext cx="4619549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247595" y="4832604"/>
            <a:ext cx="237744" cy="114300"/>
          </a:xfrm>
          <a:prstGeom prst="roundRect">
            <a:avLst>
              <a:gd name="adj" fmla="val 400000"/>
            </a:avLst>
          </a:prstGeom>
          <a:solidFill>
            <a:srgbClr val="48B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174382" y="4817974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BB7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0.1s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71754" y="5385816"/>
            <a:ext cx="138348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中区域 (10-100 km²)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247595" y="5400446"/>
            <a:ext cx="4619549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247595" y="5400446"/>
            <a:ext cx="1390802" cy="114300"/>
          </a:xfrm>
          <a:prstGeom prst="roundRect">
            <a:avLst>
              <a:gd name="adj" fmla="val 400000"/>
            </a:avLst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74382" y="5385816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299E1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1.0s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771754" y="5954573"/>
            <a:ext cx="130393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大区域 (&gt; 100 km²)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2247595" y="5969203"/>
            <a:ext cx="4619549" cy="114300"/>
          </a:xfrm>
          <a:prstGeom prst="roundRect">
            <a:avLst>
              <a:gd name="adj" fmla="val 400000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247595" y="5969203"/>
            <a:ext cx="3924605" cy="114300"/>
          </a:xfrm>
          <a:prstGeom prst="roundRect">
            <a:avLst>
              <a:gd name="adj" fmla="val 400000"/>
            </a:avLst>
          </a:prstGeom>
          <a:solidFill>
            <a:srgbClr val="ED89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74382" y="5954573"/>
            <a:ext cx="4096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D893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&lt; 5.0s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8016545" y="3972154"/>
            <a:ext cx="3610051" cy="2609698"/>
          </a:xfrm>
          <a:prstGeom prst="roundRect">
            <a:avLst>
              <a:gd name="adj" fmla="val 10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216798" y="4525366"/>
            <a:ext cx="320954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16798" y="4214470"/>
            <a:ext cx="171907" cy="171907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483803" y="4200754"/>
            <a:ext cx="111099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核心价值验证</a:t>
            </a:r>
            <a:endParaRPr lang="en-US" sz="13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>
            <a:fillRect/>
          </a:stretch>
        </p:blipFill>
        <p:spPr>
          <a:xfrm>
            <a:off x="8216798" y="4883810"/>
            <a:ext cx="133502" cy="15270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445398" y="4855464"/>
            <a:ext cx="300929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极简上手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仅需 10 行代码即可完成复杂采样任务</a:t>
            </a:r>
            <a:endParaRPr lang="en-US" sz="1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16798" y="5371186"/>
            <a:ext cx="152705" cy="15270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464601" y="5342839"/>
            <a:ext cx="3229661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100% 可重复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 机制确保多次运行结果完全一致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16798" y="5858561"/>
            <a:ext cx="152705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8464601" y="5830214"/>
            <a:ext cx="277611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文档友好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注释率 &gt;40%，提供完整教程与案例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15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44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1500" y="237744"/>
            <a:ext cx="97731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项目成果：量化与质量</a:t>
            </a:r>
            <a:endParaRPr lang="en-US" sz="2500" dirty="0"/>
          </a:p>
        </p:txBody>
      </p:sp>
      <p:sp>
        <p:nvSpPr>
          <p:cNvPr id="56" name="Text 46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57" name="Shape 47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1500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61795"/>
            <a:ext cx="3562502" cy="38405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" y="1600200"/>
            <a:ext cx="3543300" cy="942746"/>
          </a:xfrm>
          <a:prstGeom prst="rect">
            <a:avLst/>
          </a:prstGeom>
          <a:solidFill>
            <a:srgbClr val="4299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rcRect/>
          <a:stretch>
            <a:fillRect/>
          </a:stretch>
        </p:blipFill>
        <p:spPr>
          <a:xfrm>
            <a:off x="3279953" y="1505102"/>
            <a:ext cx="933602" cy="9336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1754" y="1819656"/>
            <a:ext cx="212049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短期 (Short-term) · ≤ 3 Months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1754" y="2038198"/>
            <a:ext cx="33531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功能增强与生态建设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0644" y="2542946"/>
            <a:ext cx="3543300" cy="3581705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4247" r="-4247"/>
          <a:stretch>
            <a:fillRect/>
          </a:stretch>
        </p:blipFill>
        <p:spPr>
          <a:xfrm>
            <a:off x="771754" y="2766974"/>
            <a:ext cx="181051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8700" y="2734056"/>
            <a:ext cx="7909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新采样策略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94283" y="3029407"/>
            <a:ext cx="13716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分层采样 (Stratified)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94283" y="3291840"/>
            <a:ext cx="153070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自适应采样 (Adaptive)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94283" y="3554273"/>
            <a:ext cx="178033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泊松盘采样 (Poisson Disk)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l="-3425" r="-3425"/>
          <a:stretch>
            <a:fillRect/>
          </a:stretch>
        </p:blipFill>
        <p:spPr>
          <a:xfrm>
            <a:off x="771754" y="4041648"/>
            <a:ext cx="142646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0295" y="4007815"/>
            <a:ext cx="7909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性能与发布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94283" y="4303166"/>
            <a:ext cx="152704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GPU 加速 (CUDA 支持)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94283" y="4565599"/>
            <a:ext cx="13716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PyPI / Conda 包发布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94283" y="4828946"/>
            <a:ext cx="181417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Docker 镜像与 Binder 演示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17797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17797" y="1561795"/>
            <a:ext cx="3562502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27855" y="1600200"/>
            <a:ext cx="3543300" cy="942746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>
            <a:fillRect/>
          </a:stretch>
        </p:blipFill>
        <p:spPr>
          <a:xfrm>
            <a:off x="7026250" y="1505102"/>
            <a:ext cx="933602" cy="9336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518050" y="1819656"/>
            <a:ext cx="21086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中期 (Mid-term) · 6-12 Months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518050" y="2038198"/>
            <a:ext cx="33531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平台化与高级集成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327855" y="2542946"/>
            <a:ext cx="3543300" cy="3581705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3882" r="-3882"/>
          <a:stretch>
            <a:fillRect/>
          </a:stretch>
        </p:blipFill>
        <p:spPr>
          <a:xfrm>
            <a:off x="4518050" y="2766974"/>
            <a:ext cx="161849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755794" y="2734056"/>
            <a:ext cx="7909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平台化服务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640580" y="3029407"/>
            <a:ext cx="18480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Web 可视化界面 (Streamlit)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640580" y="3291840"/>
            <a:ext cx="127833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REST API 服务接口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640580" y="3554273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空间数据库集成支持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 l="-3425" r="-3425"/>
          <a:stretch>
            <a:fillRect/>
          </a:stretch>
        </p:blipFill>
        <p:spPr>
          <a:xfrm>
            <a:off x="4518050" y="4041648"/>
            <a:ext cx="142646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737506" y="4007815"/>
            <a:ext cx="648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高级功能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640580" y="4303166"/>
            <a:ext cx="101041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多目标优化算法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4640580" y="4565599"/>
            <a:ext cx="16194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机器学习 (ML) 辅助采样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4640580" y="4828946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移动端数据采集支持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064094" y="1561795"/>
            <a:ext cx="3562502" cy="45720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64094" y="1561795"/>
            <a:ext cx="3562502" cy="38405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074152" y="1600200"/>
            <a:ext cx="3543300" cy="942746"/>
          </a:xfrm>
          <a:prstGeom prst="rect">
            <a:avLst/>
          </a:prstGeom>
          <a:solidFill>
            <a:srgbClr val="805A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>
            <a:fillRect/>
          </a:stretch>
        </p:blipFill>
        <p:spPr>
          <a:xfrm>
            <a:off x="10772546" y="1505102"/>
            <a:ext cx="933602" cy="9336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264347" y="1819656"/>
            <a:ext cx="189372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长期 (Long-term) · &gt; 1 Year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8264347" y="2038198"/>
            <a:ext cx="33531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行业标准与开源生态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8074152" y="2542946"/>
            <a:ext cx="3543300" cy="3581705"/>
          </a:xfrm>
          <a:prstGeom prst="rect">
            <a:avLst/>
          </a:prstGeom>
          <a:solidFill>
            <a:srgbClr val="FCFD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 l="-7078" r="-7078"/>
          <a:stretch>
            <a:fillRect/>
          </a:stretch>
        </p:blipFill>
        <p:spPr>
          <a:xfrm>
            <a:off x="8264347" y="2766974"/>
            <a:ext cx="114300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454542" y="2734056"/>
            <a:ext cx="7909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学术与行业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8387791" y="3029407"/>
            <a:ext cx="14401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成为空间采样标准工具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8387791" y="3291840"/>
            <a:ext cx="101041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发表方法学论文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8387791" y="3554273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引入研究生课程教学</a:t>
            </a:r>
            <a:endParaRPr lang="en-US" sz="10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 l="-4247" r="-4247"/>
          <a:stretch>
            <a:fillRect/>
          </a:stretch>
        </p:blipFill>
        <p:spPr>
          <a:xfrm>
            <a:off x="8264347" y="4041648"/>
            <a:ext cx="181051" cy="13350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8521294" y="4007815"/>
            <a:ext cx="6483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社区生态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8387791" y="4303166"/>
            <a:ext cx="150327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AI 驱动的实时采样优化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8387791" y="4565599"/>
            <a:ext cx="115214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活跃的开发者社区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8387791" y="4828946"/>
            <a:ext cx="14401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丰富的第三方插件生态</a:t>
            </a:r>
            <a:endParaRPr lang="en-US" sz="10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127602" y="2219249"/>
            <a:ext cx="228600" cy="228600"/>
          </a:xfrm>
          <a:prstGeom prst="rect">
            <a:avLst/>
          </a:prstGeom>
        </p:spPr>
      </p:pic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873898" y="2219249"/>
            <a:ext cx="228600" cy="228600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Shape 46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571500" y="237744"/>
            <a:ext cx="96972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未来展望 (Roadmap)</a:t>
            </a:r>
            <a:endParaRPr lang="en-US" sz="2500" dirty="0"/>
          </a:p>
        </p:txBody>
      </p:sp>
      <p:sp>
        <p:nvSpPr>
          <p:cNvPr id="61" name="Text 48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" y="1133856"/>
            <a:ext cx="3543300" cy="38405"/>
          </a:xfrm>
          <a:prstGeom prst="rect">
            <a:avLst/>
          </a:prstGeom>
          <a:solidFill>
            <a:srgbClr val="3A7C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4" y="1324051"/>
            <a:ext cx="457200" cy="457200"/>
          </a:xfrm>
          <a:prstGeom prst="ellipse">
            <a:avLst/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05256" y="1457554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1754" y="1923898"/>
            <a:ext cx="335310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科学方法的标准化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276856"/>
            <a:ext cx="95098" cy="950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6851" y="2276856"/>
            <a:ext cx="206471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将 Ad-hoc 采样转化为标准流程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539289"/>
            <a:ext cx="95098" cy="950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6851" y="2539289"/>
            <a:ext cx="184068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Seed 驱动的 100% 可重复性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2801722"/>
            <a:ext cx="95098" cy="9509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66851" y="2801722"/>
            <a:ext cx="144018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完整的元数据记录体系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317797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27855" y="1133856"/>
            <a:ext cx="3543300" cy="38405"/>
          </a:xfrm>
          <a:prstGeom prst="rect">
            <a:avLst/>
          </a:prstGeom>
          <a:solidFill>
            <a:srgbClr val="38A1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18050" y="1324051"/>
            <a:ext cx="457200" cy="457200"/>
          </a:xfrm>
          <a:prstGeom prst="ellipse">
            <a:avLst/>
          </a:prstGeom>
          <a:solidFill>
            <a:srgbClr val="F0FF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51553" y="1457554"/>
            <a:ext cx="190195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18050" y="1923898"/>
            <a:ext cx="335310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性能与易用性突破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276856"/>
            <a:ext cx="95098" cy="9509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613148" y="2276856"/>
            <a:ext cx="177942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10 行代码实现复杂采样设计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539289"/>
            <a:ext cx="95098" cy="9509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613148" y="2539289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大规模区域秒级响应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18050" y="2801722"/>
            <a:ext cx="95098" cy="9509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613148" y="2801722"/>
            <a:ext cx="158465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分块并行处理与智能缓存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8064094" y="1123798"/>
            <a:ext cx="3562502" cy="2952598"/>
          </a:xfrm>
          <a:prstGeom prst="roundRect">
            <a:avLst>
              <a:gd name="adj" fmla="val 7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074152" y="1133856"/>
            <a:ext cx="3543300" cy="38405"/>
          </a:xfrm>
          <a:prstGeom prst="rect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8264347" y="1324051"/>
            <a:ext cx="457200" cy="457200"/>
          </a:xfrm>
          <a:prstGeom prst="ellipse">
            <a:avLst/>
          </a:prstGeom>
          <a:solidFill>
            <a:srgbClr val="FF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rcRect l="-1648" r="-1648"/>
          <a:stretch>
            <a:fillRect/>
          </a:stretch>
        </p:blipFill>
        <p:spPr>
          <a:xfrm>
            <a:off x="8406994" y="1457554"/>
            <a:ext cx="171907" cy="19019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264347" y="1923898"/>
            <a:ext cx="335310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开放科学影响力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276856"/>
            <a:ext cx="95098" cy="95098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359445" y="2276856"/>
            <a:ext cx="129661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提升研究方法透明度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539289"/>
            <a:ext cx="95098" cy="9509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8359445" y="2539289"/>
            <a:ext cx="158465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促进最佳实践传播与共享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64347" y="2801722"/>
            <a:ext cx="95098" cy="9509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359445" y="2801722"/>
            <a:ext cx="158465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支持数据驱动的决策制定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571500" y="4315054"/>
            <a:ext cx="6200546" cy="225765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24"/>
          <p:cNvSpPr/>
          <p:nvPr/>
        </p:nvSpPr>
        <p:spPr>
          <a:xfrm>
            <a:off x="571500" y="4315054"/>
            <a:ext cx="62005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7"/>
          <a:srcRect t="-180" b="-180"/>
          <a:stretch>
            <a:fillRect/>
          </a:stretch>
        </p:blipFill>
        <p:spPr>
          <a:xfrm>
            <a:off x="571500" y="4505249"/>
            <a:ext cx="190195" cy="1527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57707" y="4496105"/>
            <a:ext cx="116311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开发团队与致谢</a:t>
            </a:r>
            <a:endParaRPr lang="en-US" sz="1200" dirty="0"/>
          </a:p>
        </p:txBody>
      </p:sp>
      <p:sp>
        <p:nvSpPr>
          <p:cNvPr id="41" name="Shape 26"/>
          <p:cNvSpPr/>
          <p:nvPr/>
        </p:nvSpPr>
        <p:spPr>
          <a:xfrm>
            <a:off x="571500" y="4839005"/>
            <a:ext cx="3029407" cy="571500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27"/>
          <p:cNvSpPr/>
          <p:nvPr/>
        </p:nvSpPr>
        <p:spPr>
          <a:xfrm>
            <a:off x="714146" y="4934102"/>
            <a:ext cx="381305" cy="381305"/>
          </a:xfrm>
          <a:prstGeom prst="ellipse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8"/>
          <p:cNvSpPr txBox="1"/>
          <p:nvPr/>
        </p:nvSpPr>
        <p:spPr>
          <a:xfrm>
            <a:off x="819302" y="5024628"/>
            <a:ext cx="2478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JG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1209751" y="4967021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Jiale Guo</a:t>
            </a:r>
            <a:endParaRPr lang="en-US" sz="1000" dirty="0"/>
          </a:p>
        </p:txBody>
      </p:sp>
      <p:sp>
        <p:nvSpPr>
          <p:cNvPr id="45" name="Text 30"/>
          <p:cNvSpPr txBox="1"/>
          <p:nvPr/>
        </p:nvSpPr>
        <p:spPr>
          <a:xfrm>
            <a:off x="1209751" y="5158130"/>
            <a:ext cx="1032358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架构 / 算法 / 性能</a:t>
            </a:r>
            <a:endParaRPr lang="en-US" sz="900" dirty="0"/>
          </a:p>
        </p:txBody>
      </p:sp>
      <p:sp>
        <p:nvSpPr>
          <p:cNvPr id="46" name="Shape 31"/>
          <p:cNvSpPr/>
          <p:nvPr/>
        </p:nvSpPr>
        <p:spPr>
          <a:xfrm>
            <a:off x="3743554" y="4839005"/>
            <a:ext cx="3029407" cy="571500"/>
          </a:xfrm>
          <a:prstGeom prst="roundRect">
            <a:avLst>
              <a:gd name="adj" fmla="val 16000"/>
            </a:avLst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2"/>
          <p:cNvSpPr/>
          <p:nvPr/>
        </p:nvSpPr>
        <p:spPr>
          <a:xfrm>
            <a:off x="3886200" y="4934102"/>
            <a:ext cx="381305" cy="381305"/>
          </a:xfrm>
          <a:prstGeom prst="ellipse">
            <a:avLst/>
          </a:prstGeom>
          <a:solidFill>
            <a:srgbClr val="CBD5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3969410" y="5024628"/>
            <a:ext cx="2953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MT</a:t>
            </a:r>
            <a:endParaRPr lang="en-US" sz="1000" dirty="0"/>
          </a:p>
        </p:txBody>
      </p:sp>
      <p:sp>
        <p:nvSpPr>
          <p:cNvPr id="49" name="Text 34"/>
          <p:cNvSpPr txBox="1"/>
          <p:nvPr/>
        </p:nvSpPr>
        <p:spPr>
          <a:xfrm>
            <a:off x="4381805" y="4967021"/>
            <a:ext cx="10323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Mingfeng Tang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4381805" y="5158130"/>
            <a:ext cx="9272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元数据 / 可视化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571500" y="5553151"/>
            <a:ext cx="2000707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685800" y="5619902"/>
            <a:ext cx="210860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Polimi Geoinformatics Engineering</a:t>
            </a:r>
            <a:endParaRPr lang="en-US" sz="900" dirty="0"/>
          </a:p>
        </p:txBody>
      </p:sp>
      <p:sp>
        <p:nvSpPr>
          <p:cNvPr id="53" name="Shape 38"/>
          <p:cNvSpPr/>
          <p:nvPr/>
        </p:nvSpPr>
        <p:spPr>
          <a:xfrm>
            <a:off x="2757830" y="5553151"/>
            <a:ext cx="1772107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9"/>
          <p:cNvSpPr txBox="1"/>
          <p:nvPr/>
        </p:nvSpPr>
        <p:spPr>
          <a:xfrm>
            <a:off x="2872130" y="5619902"/>
            <a:ext cx="183703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Python Geospatial Community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4711903" y="5553151"/>
            <a:ext cx="923544" cy="286207"/>
          </a:xfrm>
          <a:prstGeom prst="roundRect">
            <a:avLst>
              <a:gd name="adj" fmla="val 159745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4826203" y="5619902"/>
            <a:ext cx="7717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OSMnx Team</a:t>
            </a:r>
            <a:endParaRPr lang="en-US" sz="900" dirty="0"/>
          </a:p>
        </p:txBody>
      </p:sp>
      <p:sp>
        <p:nvSpPr>
          <p:cNvPr id="57" name="Shape 42"/>
          <p:cNvSpPr/>
          <p:nvPr/>
        </p:nvSpPr>
        <p:spPr>
          <a:xfrm>
            <a:off x="7010705" y="4315054"/>
            <a:ext cx="4610405" cy="2257654"/>
          </a:xfrm>
          <a:prstGeom prst="roundRect">
            <a:avLst>
              <a:gd name="adj" fmla="val 1367"/>
            </a:avLst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8"/>
          <a:srcRect t="-5067" b="-5067"/>
          <a:stretch>
            <a:fillRect/>
          </a:stretch>
        </p:blipFill>
        <p:spPr>
          <a:xfrm>
            <a:off x="10134295" y="5286146"/>
            <a:ext cx="1676095" cy="1476756"/>
          </a:xfrm>
          <a:prstGeom prst="rect">
            <a:avLst/>
          </a:prstGeom>
        </p:spPr>
      </p:pic>
      <p:sp>
        <p:nvSpPr>
          <p:cNvPr id="59" name="Shape 43"/>
          <p:cNvSpPr/>
          <p:nvPr/>
        </p:nvSpPr>
        <p:spPr>
          <a:xfrm>
            <a:off x="7248449" y="4934102"/>
            <a:ext cx="41340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7248449" y="4591202"/>
            <a:ext cx="244876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保持联系 (Stay in Touch)</a:t>
            </a:r>
            <a:endParaRPr lang="en-US" sz="1500" dirty="0"/>
          </a:p>
        </p:txBody>
      </p:sp>
      <p:sp>
        <p:nvSpPr>
          <p:cNvPr id="61" name="Shape 45"/>
          <p:cNvSpPr/>
          <p:nvPr/>
        </p:nvSpPr>
        <p:spPr>
          <a:xfrm>
            <a:off x="7248449" y="5134356"/>
            <a:ext cx="304495" cy="304495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9"/>
          <a:srcRect l="-1613" r="-1613"/>
          <a:stretch>
            <a:fillRect/>
          </a:stretch>
        </p:blipFill>
        <p:spPr>
          <a:xfrm>
            <a:off x="7334402" y="5219395"/>
            <a:ext cx="133502" cy="133502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7667244" y="5195621"/>
            <a:ext cx="283372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GuojialeGeographer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7248449" y="5581498"/>
            <a:ext cx="304495" cy="304495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334402" y="5667451"/>
            <a:ext cx="133502" cy="13350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7667244" y="5643677"/>
            <a:ext cx="200162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jiale.guo@mail.polimi.it</a:t>
            </a:r>
            <a:endParaRPr lang="en-US" sz="1000" dirty="0"/>
          </a:p>
        </p:txBody>
      </p:sp>
      <p:sp>
        <p:nvSpPr>
          <p:cNvPr id="67" name="Shape 49"/>
          <p:cNvSpPr/>
          <p:nvPr/>
        </p:nvSpPr>
        <p:spPr>
          <a:xfrm>
            <a:off x="7248449" y="6029554"/>
            <a:ext cx="304495" cy="304495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>
            <a:fillRect/>
          </a:stretch>
        </p:blipFill>
        <p:spPr>
          <a:xfrm>
            <a:off x="7343546" y="6115507"/>
            <a:ext cx="114300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7667244" y="6090818"/>
            <a:ext cx="233812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Status: v0.1.0 Ready</a:t>
            </a:r>
            <a:endParaRPr lang="en-US" sz="1000" dirty="0"/>
          </a:p>
        </p:txBody>
      </p:sp>
      <p:sp>
        <p:nvSpPr>
          <p:cNvPr id="72" name="Text 52"/>
          <p:cNvSpPr txBox="1"/>
          <p:nvPr/>
        </p:nvSpPr>
        <p:spPr>
          <a:xfrm>
            <a:off x="11658600" y="6467551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17</a:t>
            </a:r>
            <a:endParaRPr lang="en-US" sz="1200" dirty="0"/>
          </a:p>
        </p:txBody>
      </p:sp>
      <p:sp>
        <p:nvSpPr>
          <p:cNvPr id="73" name="Shape 53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Shape 54"/>
          <p:cNvSpPr/>
          <p:nvPr/>
        </p:nvSpPr>
        <p:spPr>
          <a:xfrm>
            <a:off x="0" y="819302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5" name="Text 55"/>
          <p:cNvSpPr txBox="1"/>
          <p:nvPr/>
        </p:nvSpPr>
        <p:spPr>
          <a:xfrm>
            <a:off x="571500" y="237744"/>
            <a:ext cx="97731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5288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总结与致谢</a:t>
            </a:r>
            <a:endParaRPr lang="en-US" sz="2500" dirty="0"/>
          </a:p>
        </p:txBody>
      </p:sp>
      <p:sp>
        <p:nvSpPr>
          <p:cNvPr id="76" name="Text 56"/>
          <p:cNvSpPr txBox="1"/>
          <p:nvPr/>
        </p:nvSpPr>
        <p:spPr>
          <a:xfrm>
            <a:off x="10147097" y="381305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18096"/>
                </a:solidFill>
                <a:latin typeface="Times New Roman" panose="02020503050405090304" pitchFamily="34" charset="0"/>
                <a:ea typeface="Times New Roman" panose="02020503050405090304" pitchFamily="34" charset="-122"/>
                <a:cs typeface="Times New Roman" panose="02020503050405090304" pitchFamily="34" charset="-120"/>
              </a:rPr>
              <a:t>SpatialSamplingPro</a:t>
            </a:r>
            <a:endParaRPr lang="en-US" sz="1300" dirty="0"/>
          </a:p>
        </p:txBody>
      </p:sp>
      <p:sp>
        <p:nvSpPr>
          <p:cNvPr id="77" name="Shape 57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52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6260</Words>
  <Application>WPS 演示</Application>
  <PresentationFormat>On-screen Show (16:9)</PresentationFormat>
  <Paragraphs>949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Times New Roman</vt:lpstr>
      <vt:lpstr>Times New Roman</vt:lpstr>
      <vt:lpstr>Courier New</vt:lpstr>
      <vt:lpstr>Courier New</vt:lpstr>
      <vt:lpstr>Courier New</vt:lpstr>
      <vt:lpstr>ui-monospace</vt:lpstr>
      <vt:lpstr>苹方-简</vt:lpstr>
      <vt:lpstr>ui-monospace</vt:lpstr>
      <vt:lpstr>ui-monospace</vt:lpstr>
      <vt:lpstr>Consolas</vt:lpstr>
      <vt:lpstr>Consolas</vt:lpstr>
      <vt:lpstr>Consolas</vt:lpstr>
      <vt:lpstr>JetBrains Mono</vt:lpstr>
      <vt:lpstr>JetBrains Mono</vt:lpstr>
      <vt:lpstr>JetBrains Mono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Bruce</cp:lastModifiedBy>
  <cp:revision>28</cp:revision>
  <dcterms:created xsi:type="dcterms:W3CDTF">2026-01-26T01:39:46Z</dcterms:created>
  <dcterms:modified xsi:type="dcterms:W3CDTF">2026-01-26T01:39:46Z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3678BC1BCB8B6E336DC37669ABD5727A_42</vt:lpwstr>
  </property>
  <property fmtid="{D5CDD505-2E9C-101B-9397-08002B2CF9AE}" pid="3" name="KSOProductBuildVer">
    <vt:lpwstr>2052-12.1.24709.24709</vt:lpwstr>
  </property>
</Properties>
</file>